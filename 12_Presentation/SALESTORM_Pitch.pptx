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SALESTORM is a flash-sale platform. One product, 100 units, 10,000 customers clicking Buy Now at the same instant. Our job: never oversell, never double charge, never lose a paid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Strict guarantees versus targets. Correctness is non-negotiable; latency and availability are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Traffic narrows at every layer so only about 100 writes ever reach the database. Reserve is synchronous because the customer needs an immediate answer. Everything after payment is asynchronous so an Order Service outage cannot lose or block a paid transaction. Services are stateless and scale horizontally; each owns its own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Walk the six steps. Contention is controlled in exactly one place: the inventory row, via a single atomic conditional UPDATE. Redis is only a fast filter; if Redis is wrong or down, the database still guarantees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for the critical design: explicit states, guarded transitions (WHERE state = expected) make every transition idempotent. CONFIRMED is exempt from expiry, so a paid customer is never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Four scenarios. Key idea: a timeout is an unknown, resolved by querying the gateway with the same merchant reference, so we can never charge twice. Payment to order uses the transactional outbox, at-least-once delivery and idempotent consumers.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One critical module end to end. PaymentService depends only on the PaymentProvider interface. Adding a provider means adding an adapter and registering it in the factory. Same idea for pricing strategies and delivery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The bottleneck is the hot inventory row, and the funnel keeps its load constant regardless of traffic. Reconciliation jobs are the final safety net for every cross-service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Every strength has a stated cost. Thirteen ADRs are in the submission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answers the final jury question. Walk the seven steps left to right, then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1097280"/>
            <a:ext cx="804672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SALESTORM</a:t>
            </a:r>
            <a:endParaRPr lang="en-US" sz="5400" dirty="0"/>
          </a:p>
        </p:txBody>
      </p:sp>
      <p:sp>
        <p:nvSpPr>
          <p:cNvPr id="3" name="Text 1"/>
          <p:cNvSpPr txBox="1"/>
          <p:nvPr/>
        </p:nvSpPr>
        <p:spPr>
          <a:xfrm>
            <a:off x="548640" y="2103120"/>
            <a:ext cx="7315200" cy="82296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Keeping every transaction correct when 10,000 customers chase 100 units</a:t>
            </a:r>
            <a:endParaRPr lang="en-US" sz="2200" dirty="0"/>
          </a:p>
        </p:txBody>
      </p:sp>
      <p:sp>
        <p:nvSpPr>
          <p:cNvPr id="4" name="Shape 2"/>
          <p:cNvSpPr/>
          <p:nvPr/>
        </p:nvSpPr>
        <p:spPr>
          <a:xfrm>
            <a:off x="548640" y="3383280"/>
            <a:ext cx="1645920" cy="457200"/>
          </a:xfrm>
          <a:prstGeom prst="roundRect">
            <a:avLst>
              <a:gd name="adj" fmla="val 20000"/>
            </a:avLst>
          </a:prstGeom>
          <a:solidFill>
            <a:srgbClr val="00A6A6"/>
          </a:solidFill>
          <a:ln w="6350">
            <a:solidFill>
              <a:srgbClr val="00A6A6"/>
            </a:solidFill>
            <a:prstDash val="solid"/>
          </a:ln>
        </p:spPr>
      </p:sp>
      <p:sp>
        <p:nvSpPr>
          <p:cNvPr id="5" name="Text 3"/>
          <p:cNvSpPr txBox="1"/>
          <p:nvPr/>
        </p:nvSpPr>
        <p:spPr>
          <a:xfrm>
            <a:off x="548640" y="3383280"/>
            <a:ext cx="1645920" cy="457200"/>
          </a:xfrm>
          <a:prstGeom prst="rect">
            <a:avLst/>
          </a:prstGeom>
          <a:noFill/>
          <a:ln/>
        </p:spPr>
        <p:txBody>
          <a:bodyPr wrap="square" lIns="25400" tIns="25400" rIns="25400" bIns="254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100 units</a:t>
            </a:r>
            <a:endParaRPr lang="en-US" sz="1600" dirty="0"/>
          </a:p>
        </p:txBody>
      </p:sp>
      <p:sp>
        <p:nvSpPr>
          <p:cNvPr id="6" name="Shape 4"/>
          <p:cNvSpPr/>
          <p:nvPr/>
        </p:nvSpPr>
        <p:spPr>
          <a:xfrm>
            <a:off x="2377440" y="3383280"/>
            <a:ext cx="1828800" cy="457200"/>
          </a:xfrm>
          <a:prstGeom prst="roundRect">
            <a:avLst>
              <a:gd name="adj" fmla="val 20000"/>
            </a:avLst>
          </a:prstGeom>
          <a:solidFill>
            <a:srgbClr val="FFB703"/>
          </a:solidFill>
          <a:ln w="6350">
            <a:solidFill>
              <a:srgbClr val="FFB703"/>
            </a:solidFill>
            <a:prstDash val="solid"/>
          </a:ln>
        </p:spPr>
      </p:sp>
      <p:sp>
        <p:nvSpPr>
          <p:cNvPr id="7" name="Text 5"/>
          <p:cNvSpPr txBox="1"/>
          <p:nvPr/>
        </p:nvSpPr>
        <p:spPr>
          <a:xfrm>
            <a:off x="2377440" y="3383280"/>
            <a:ext cx="1828800" cy="457200"/>
          </a:xfrm>
          <a:prstGeom prst="rect">
            <a:avLst/>
          </a:prstGeom>
          <a:noFill/>
          <a:ln/>
        </p:spPr>
        <p:txBody>
          <a:bodyPr wrap="square" lIns="25400" tIns="25400" rIns="25400" bIns="25400" rtlCol="0" anchor="ctr"/>
          <a:lstStyle/>
          <a:p>
            <a:pPr algn="ctr" indent="0" marL="0">
              <a:buNone/>
            </a:pPr>
            <a:r>
              <a:rPr lang="en-US" sz="1600" b="1" dirty="0">
                <a:solidFill>
                  <a:srgbClr val="0B1F3A"/>
                </a:solidFill>
                <a:latin typeface="Calibri" pitchFamily="34" charset="0"/>
                <a:ea typeface="Calibri" pitchFamily="34" charset="-122"/>
                <a:cs typeface="Calibri" pitchFamily="34" charset="-120"/>
              </a:rPr>
              <a:t>10,000 buyers</a:t>
            </a:r>
            <a:endParaRPr lang="en-US" sz="1600" dirty="0"/>
          </a:p>
        </p:txBody>
      </p:sp>
      <p:sp>
        <p:nvSpPr>
          <p:cNvPr id="8" name="Shape 6"/>
          <p:cNvSpPr/>
          <p:nvPr/>
        </p:nvSpPr>
        <p:spPr>
          <a:xfrm>
            <a:off x="4389120" y="3383280"/>
            <a:ext cx="1645920" cy="457200"/>
          </a:xfrm>
          <a:prstGeom prst="roundRect">
            <a:avLst>
              <a:gd name="adj" fmla="val 20000"/>
            </a:avLst>
          </a:prstGeom>
          <a:solidFill>
            <a:srgbClr val="2E9E6B"/>
          </a:solidFill>
          <a:ln w="6350">
            <a:solidFill>
              <a:srgbClr val="2E9E6B"/>
            </a:solidFill>
            <a:prstDash val="solid"/>
          </a:ln>
        </p:spPr>
      </p:sp>
      <p:sp>
        <p:nvSpPr>
          <p:cNvPr id="9" name="Text 7"/>
          <p:cNvSpPr txBox="1"/>
          <p:nvPr/>
        </p:nvSpPr>
        <p:spPr>
          <a:xfrm>
            <a:off x="4389120" y="3383280"/>
            <a:ext cx="1645920" cy="457200"/>
          </a:xfrm>
          <a:prstGeom prst="rect">
            <a:avLst/>
          </a:prstGeom>
          <a:noFill/>
          <a:ln/>
        </p:spPr>
        <p:txBody>
          <a:bodyPr wrap="square" lIns="25400" tIns="25400" rIns="25400" bIns="254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 oversell</a:t>
            </a:r>
            <a:endParaRPr lang="en-US" sz="1600" dirty="0"/>
          </a:p>
        </p:txBody>
      </p:sp>
      <p:sp>
        <p:nvSpPr>
          <p:cNvPr id="10" name="Text 8"/>
          <p:cNvSpPr txBox="1"/>
          <p:nvPr/>
        </p:nvSpPr>
        <p:spPr>
          <a:xfrm>
            <a:off x="548640" y="4389120"/>
            <a:ext cx="8046720" cy="365760"/>
          </a:xfrm>
          <a:prstGeom prst="rect">
            <a:avLst/>
          </a:prstGeom>
          <a:noFill/>
          <a:ln/>
        </p:spPr>
        <p:txBody>
          <a:bodyPr wrap="square" lIns="0" tIns="0" rIns="0" bIns="0" rtlCol="0" anchor="ctr"/>
          <a:lstStyle/>
          <a:p>
            <a:pPr indent="0" marL="0">
              <a:buNone/>
            </a:pPr>
            <a:r>
              <a:rPr lang="en-US" sz="1200" dirty="0">
                <a:solidFill>
                  <a:srgbClr val="9FB3C8"/>
                </a:solidFill>
                <a:latin typeface="Calibri" pitchFamily="34" charset="0"/>
                <a:ea typeface="Calibri" pitchFamily="34" charset="-122"/>
                <a:cs typeface="Calibri" pitchFamily="34" charset="-120"/>
              </a:rPr>
              <a:t>SYSCRAFTERS 2026 | System Design Hackathon | Team: SALESTORM_TEAM_NAME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problem and what we guarantee</a:t>
            </a:r>
            <a:endParaRPr lang="en-US" sz="3000" dirty="0"/>
          </a:p>
        </p:txBody>
      </p:sp>
      <p:sp>
        <p:nvSpPr>
          <p:cNvPr id="3" name="Shape 1"/>
          <p:cNvSpPr/>
          <p:nvPr/>
        </p:nvSpPr>
        <p:spPr>
          <a:xfrm>
            <a:off x="457200" y="1097280"/>
            <a:ext cx="1920240" cy="1371600"/>
          </a:xfrm>
          <a:prstGeom prst="roundRect">
            <a:avLst>
              <a:gd name="adj" fmla="val 5333"/>
            </a:avLst>
          </a:prstGeom>
          <a:solidFill>
            <a:srgbClr val="FFFFFF"/>
          </a:solidFill>
          <a:ln w="9525">
            <a:solidFill>
              <a:srgbClr val="D9E2EC"/>
            </a:solidFill>
            <a:prstDash val="solid"/>
          </a:ln>
        </p:spPr>
      </p:sp>
      <p:sp>
        <p:nvSpPr>
          <p:cNvPr id="4" name="Text 2"/>
          <p:cNvSpPr txBox="1"/>
          <p:nvPr/>
        </p:nvSpPr>
        <p:spPr>
          <a:xfrm>
            <a:off x="457200" y="1188720"/>
            <a:ext cx="1920240" cy="731520"/>
          </a:xfrm>
          <a:prstGeom prst="rect">
            <a:avLst/>
          </a:prstGeom>
          <a:noFill/>
          <a:ln/>
        </p:spPr>
        <p:txBody>
          <a:bodyPr wrap="square" lIns="0" tIns="0" rIns="0" bIns="0" rtlCol="0" anchor="ctr"/>
          <a:lstStyle/>
          <a:p>
            <a:pPr algn="ctr" indent="0" marL="0">
              <a:buNone/>
            </a:pPr>
            <a:r>
              <a:rPr lang="en-US" sz="3200" b="1" dirty="0">
                <a:solidFill>
                  <a:srgbClr val="00A6A6"/>
                </a:solidFill>
                <a:latin typeface="Cambria" pitchFamily="34" charset="0"/>
                <a:ea typeface="Cambria" pitchFamily="34" charset="-122"/>
                <a:cs typeface="Cambria" pitchFamily="34" charset="-120"/>
              </a:rPr>
              <a:t>10,000</a:t>
            </a:r>
            <a:endParaRPr lang="en-US" sz="3200" dirty="0"/>
          </a:p>
        </p:txBody>
      </p:sp>
      <p:sp>
        <p:nvSpPr>
          <p:cNvPr id="5" name="Text 3"/>
          <p:cNvSpPr txBox="1"/>
          <p:nvPr/>
        </p:nvSpPr>
        <p:spPr>
          <a:xfrm>
            <a:off x="548640" y="1874520"/>
            <a:ext cx="1737360" cy="502920"/>
          </a:xfrm>
          <a:prstGeom prst="rect">
            <a:avLst/>
          </a:prstGeom>
          <a:noFill/>
          <a:ln/>
        </p:spPr>
        <p:txBody>
          <a:bodyPr wrap="square" lIns="0" tIns="0" rIns="0" bIns="0" rtlCol="0" anchor="ctr"/>
          <a:lstStyle/>
          <a:p>
            <a:pPr algn="ctr" indent="0" marL="0">
              <a:buNone/>
            </a:pPr>
            <a:r>
              <a:rPr lang="en-US" sz="1300" dirty="0">
                <a:solidFill>
                  <a:srgbClr val="5B6B80"/>
                </a:solidFill>
                <a:latin typeface="Calibri" pitchFamily="34" charset="0"/>
                <a:ea typeface="Calibri" pitchFamily="34" charset="-122"/>
                <a:cs typeface="Calibri" pitchFamily="34" charset="-120"/>
              </a:rPr>
              <a:t>concurrent Buy Now</a:t>
            </a:r>
            <a:endParaRPr lang="en-US" sz="1300" dirty="0"/>
          </a:p>
        </p:txBody>
      </p:sp>
      <p:sp>
        <p:nvSpPr>
          <p:cNvPr id="6" name="Shape 4"/>
          <p:cNvSpPr/>
          <p:nvPr/>
        </p:nvSpPr>
        <p:spPr>
          <a:xfrm>
            <a:off x="2542032" y="1097280"/>
            <a:ext cx="1920240" cy="1371600"/>
          </a:xfrm>
          <a:prstGeom prst="roundRect">
            <a:avLst>
              <a:gd name="adj" fmla="val 5333"/>
            </a:avLst>
          </a:prstGeom>
          <a:solidFill>
            <a:srgbClr val="FFFFFF"/>
          </a:solidFill>
          <a:ln w="9525">
            <a:solidFill>
              <a:srgbClr val="D9E2EC"/>
            </a:solidFill>
            <a:prstDash val="solid"/>
          </a:ln>
        </p:spPr>
      </p:sp>
      <p:sp>
        <p:nvSpPr>
          <p:cNvPr id="7" name="Text 5"/>
          <p:cNvSpPr txBox="1"/>
          <p:nvPr/>
        </p:nvSpPr>
        <p:spPr>
          <a:xfrm>
            <a:off x="2542032" y="1188720"/>
            <a:ext cx="1920240" cy="731520"/>
          </a:xfrm>
          <a:prstGeom prst="rect">
            <a:avLst/>
          </a:prstGeom>
          <a:noFill/>
          <a:ln/>
        </p:spPr>
        <p:txBody>
          <a:bodyPr wrap="square" lIns="0" tIns="0" rIns="0" bIns="0" rtlCol="0" anchor="ctr"/>
          <a:lstStyle/>
          <a:p>
            <a:pPr algn="ctr" indent="0" marL="0">
              <a:buNone/>
            </a:pPr>
            <a:r>
              <a:rPr lang="en-US" sz="3200" b="1" dirty="0">
                <a:solidFill>
                  <a:srgbClr val="00A6A6"/>
                </a:solidFill>
                <a:latin typeface="Cambria" pitchFamily="34" charset="0"/>
                <a:ea typeface="Cambria" pitchFamily="34" charset="-122"/>
                <a:cs typeface="Cambria" pitchFamily="34" charset="-120"/>
              </a:rPr>
              <a:t>100</a:t>
            </a:r>
            <a:endParaRPr lang="en-US" sz="3200" dirty="0"/>
          </a:p>
        </p:txBody>
      </p:sp>
      <p:sp>
        <p:nvSpPr>
          <p:cNvPr id="8" name="Text 6"/>
          <p:cNvSpPr txBox="1"/>
          <p:nvPr/>
        </p:nvSpPr>
        <p:spPr>
          <a:xfrm>
            <a:off x="2633472" y="1874520"/>
            <a:ext cx="1737360" cy="502920"/>
          </a:xfrm>
          <a:prstGeom prst="rect">
            <a:avLst/>
          </a:prstGeom>
          <a:noFill/>
          <a:ln/>
        </p:spPr>
        <p:txBody>
          <a:bodyPr wrap="square" lIns="0" tIns="0" rIns="0" bIns="0" rtlCol="0" anchor="ctr"/>
          <a:lstStyle/>
          <a:p>
            <a:pPr algn="ctr" indent="0" marL="0">
              <a:buNone/>
            </a:pPr>
            <a:r>
              <a:rPr lang="en-US" sz="1300" dirty="0">
                <a:solidFill>
                  <a:srgbClr val="5B6B80"/>
                </a:solidFill>
                <a:latin typeface="Calibri" pitchFamily="34" charset="0"/>
                <a:ea typeface="Calibri" pitchFamily="34" charset="-122"/>
                <a:cs typeface="Calibri" pitchFamily="34" charset="-120"/>
              </a:rPr>
              <a:t>units of stock</a:t>
            </a:r>
            <a:endParaRPr lang="en-US" sz="1300" dirty="0"/>
          </a:p>
        </p:txBody>
      </p:sp>
      <p:sp>
        <p:nvSpPr>
          <p:cNvPr id="9" name="Shape 7"/>
          <p:cNvSpPr/>
          <p:nvPr/>
        </p:nvSpPr>
        <p:spPr>
          <a:xfrm>
            <a:off x="4626864" y="1097280"/>
            <a:ext cx="1920240" cy="1371600"/>
          </a:xfrm>
          <a:prstGeom prst="roundRect">
            <a:avLst>
              <a:gd name="adj" fmla="val 5333"/>
            </a:avLst>
          </a:prstGeom>
          <a:solidFill>
            <a:srgbClr val="FFFFFF"/>
          </a:solidFill>
          <a:ln w="9525">
            <a:solidFill>
              <a:srgbClr val="D9E2EC"/>
            </a:solidFill>
            <a:prstDash val="solid"/>
          </a:ln>
        </p:spPr>
      </p:sp>
      <p:sp>
        <p:nvSpPr>
          <p:cNvPr id="10" name="Text 8"/>
          <p:cNvSpPr txBox="1"/>
          <p:nvPr/>
        </p:nvSpPr>
        <p:spPr>
          <a:xfrm>
            <a:off x="4626864" y="1188720"/>
            <a:ext cx="1920240" cy="731520"/>
          </a:xfrm>
          <a:prstGeom prst="rect">
            <a:avLst/>
          </a:prstGeom>
          <a:noFill/>
          <a:ln/>
        </p:spPr>
        <p:txBody>
          <a:bodyPr wrap="square" lIns="0" tIns="0" rIns="0" bIns="0" rtlCol="0" anchor="ctr"/>
          <a:lstStyle/>
          <a:p>
            <a:pPr algn="ctr" indent="0" marL="0">
              <a:buNone/>
            </a:pPr>
            <a:r>
              <a:rPr lang="en-US" sz="3200" b="1" dirty="0">
                <a:solidFill>
                  <a:srgbClr val="00A6A6"/>
                </a:solidFill>
                <a:latin typeface="Cambria" pitchFamily="34" charset="0"/>
                <a:ea typeface="Cambria" pitchFamily="34" charset="-122"/>
                <a:cs typeface="Cambria" pitchFamily="34" charset="-120"/>
              </a:rPr>
              <a:t>500k/s</a:t>
            </a:r>
            <a:endParaRPr lang="en-US" sz="3200" dirty="0"/>
          </a:p>
        </p:txBody>
      </p:sp>
      <p:sp>
        <p:nvSpPr>
          <p:cNvPr id="11" name="Text 9"/>
          <p:cNvSpPr txBox="1"/>
          <p:nvPr/>
        </p:nvSpPr>
        <p:spPr>
          <a:xfrm>
            <a:off x="4718304" y="1874520"/>
            <a:ext cx="1737360" cy="502920"/>
          </a:xfrm>
          <a:prstGeom prst="rect">
            <a:avLst/>
          </a:prstGeom>
          <a:noFill/>
          <a:ln/>
        </p:spPr>
        <p:txBody>
          <a:bodyPr wrap="square" lIns="0" tIns="0" rIns="0" bIns="0" rtlCol="0" anchor="ctr"/>
          <a:lstStyle/>
          <a:p>
            <a:pPr algn="ctr" indent="0" marL="0">
              <a:buNone/>
            </a:pPr>
            <a:r>
              <a:rPr lang="en-US" sz="1300" dirty="0">
                <a:solidFill>
                  <a:srgbClr val="5B6B80"/>
                </a:solidFill>
                <a:latin typeface="Calibri" pitchFamily="34" charset="0"/>
                <a:ea typeface="Calibri" pitchFamily="34" charset="-122"/>
                <a:cs typeface="Calibri" pitchFamily="34" charset="-120"/>
              </a:rPr>
              <a:t>edge req/s design envelope</a:t>
            </a:r>
            <a:endParaRPr lang="en-US" sz="1300" dirty="0"/>
          </a:p>
        </p:txBody>
      </p:sp>
      <p:sp>
        <p:nvSpPr>
          <p:cNvPr id="12" name="Shape 10"/>
          <p:cNvSpPr/>
          <p:nvPr/>
        </p:nvSpPr>
        <p:spPr>
          <a:xfrm>
            <a:off x="6711696" y="1097280"/>
            <a:ext cx="1920240" cy="1371600"/>
          </a:xfrm>
          <a:prstGeom prst="roundRect">
            <a:avLst>
              <a:gd name="adj" fmla="val 5333"/>
            </a:avLst>
          </a:prstGeom>
          <a:solidFill>
            <a:srgbClr val="FFFFFF"/>
          </a:solidFill>
          <a:ln w="9525">
            <a:solidFill>
              <a:srgbClr val="D9E2EC"/>
            </a:solidFill>
            <a:prstDash val="solid"/>
          </a:ln>
        </p:spPr>
      </p:sp>
      <p:sp>
        <p:nvSpPr>
          <p:cNvPr id="13" name="Text 11"/>
          <p:cNvSpPr txBox="1"/>
          <p:nvPr/>
        </p:nvSpPr>
        <p:spPr>
          <a:xfrm>
            <a:off x="6711696" y="1188720"/>
            <a:ext cx="1920240" cy="731520"/>
          </a:xfrm>
          <a:prstGeom prst="rect">
            <a:avLst/>
          </a:prstGeom>
          <a:noFill/>
          <a:ln/>
        </p:spPr>
        <p:txBody>
          <a:bodyPr wrap="square" lIns="0" tIns="0" rIns="0" bIns="0" rtlCol="0" anchor="ctr"/>
          <a:lstStyle/>
          <a:p>
            <a:pPr algn="ctr" indent="0" marL="0">
              <a:buNone/>
            </a:pPr>
            <a:r>
              <a:rPr lang="en-US" sz="3200" b="1" dirty="0">
                <a:solidFill>
                  <a:srgbClr val="2E9E6B"/>
                </a:solidFill>
                <a:latin typeface="Cambria" pitchFamily="34" charset="0"/>
                <a:ea typeface="Cambria" pitchFamily="34" charset="-122"/>
                <a:cs typeface="Cambria" pitchFamily="34" charset="-120"/>
              </a:rPr>
              <a:t>0</a:t>
            </a:r>
            <a:endParaRPr lang="en-US" sz="3200" dirty="0"/>
          </a:p>
        </p:txBody>
      </p:sp>
      <p:sp>
        <p:nvSpPr>
          <p:cNvPr id="14" name="Text 12"/>
          <p:cNvSpPr txBox="1"/>
          <p:nvPr/>
        </p:nvSpPr>
        <p:spPr>
          <a:xfrm>
            <a:off x="6803136" y="1874520"/>
            <a:ext cx="1737360" cy="502920"/>
          </a:xfrm>
          <a:prstGeom prst="rect">
            <a:avLst/>
          </a:prstGeom>
          <a:noFill/>
          <a:ln/>
        </p:spPr>
        <p:txBody>
          <a:bodyPr wrap="square" lIns="0" tIns="0" rIns="0" bIns="0" rtlCol="0" anchor="ctr"/>
          <a:lstStyle/>
          <a:p>
            <a:pPr algn="ctr" indent="0" marL="0">
              <a:buNone/>
            </a:pPr>
            <a:r>
              <a:rPr lang="en-US" sz="1300" dirty="0">
                <a:solidFill>
                  <a:srgbClr val="5B6B80"/>
                </a:solidFill>
                <a:latin typeface="Calibri" pitchFamily="34" charset="0"/>
                <a:ea typeface="Calibri" pitchFamily="34" charset="-122"/>
                <a:cs typeface="Calibri" pitchFamily="34" charset="-120"/>
              </a:rPr>
              <a:t>oversell, duplicate pay, lost order</a:t>
            </a:r>
            <a:endParaRPr lang="en-US" sz="1300" dirty="0"/>
          </a:p>
        </p:txBody>
      </p:sp>
      <p:sp>
        <p:nvSpPr>
          <p:cNvPr id="15" name="Shape 13"/>
          <p:cNvSpPr/>
          <p:nvPr/>
        </p:nvSpPr>
        <p:spPr>
          <a:xfrm>
            <a:off x="457200" y="2743200"/>
            <a:ext cx="4023360" cy="1920240"/>
          </a:xfrm>
          <a:prstGeom prst="roundRect">
            <a:avLst>
              <a:gd name="adj" fmla="val 3810"/>
            </a:avLst>
          </a:prstGeom>
          <a:solidFill>
            <a:srgbClr val="FFFFFF"/>
          </a:solidFill>
          <a:ln w="9525">
            <a:solidFill>
              <a:srgbClr val="D9E2EC"/>
            </a:solidFill>
            <a:prstDash val="solid"/>
          </a:ln>
        </p:spPr>
      </p:sp>
      <p:sp>
        <p:nvSpPr>
          <p:cNvPr id="16" name="Text 14"/>
          <p:cNvSpPr txBox="1"/>
          <p:nvPr/>
        </p:nvSpPr>
        <p:spPr>
          <a:xfrm>
            <a:off x="640080" y="2834640"/>
            <a:ext cx="3657600" cy="1737360"/>
          </a:xfrm>
          <a:prstGeom prst="rect">
            <a:avLst/>
          </a:prstGeom>
          <a:noFill/>
          <a:ln/>
        </p:spPr>
        <p:txBody>
          <a:bodyPr wrap="square" lIns="0" tIns="0" rIns="0" bIns="0" rtlCol="0" anchor="t"/>
          <a:lstStyle/>
          <a:p>
            <a:pPr indent="0" marL="0">
              <a:spcAft>
                <a:spcPts val="400"/>
              </a:spcAft>
              <a:buNone/>
            </a:pPr>
            <a:r>
              <a:rPr lang="en-US" sz="1400" b="1" dirty="0">
                <a:solidFill>
                  <a:srgbClr val="0B1F3A"/>
                </a:solidFill>
                <a:latin typeface="Calibri" pitchFamily="34" charset="0"/>
                <a:ea typeface="Calibri" pitchFamily="34" charset="-122"/>
                <a:cs typeface="Calibri" pitchFamily="34" charset="-120"/>
              </a:rPr>
              <a:t>Strict guarantees</a:t>
            </a:r>
            <a:endParaRPr lang="en-US" sz="1400" dirty="0"/>
          </a:p>
          <a:p>
            <a:pPr marL="342900" indent="-342900">
              <a:spcAft>
                <a:spcPts val="400"/>
              </a:spcAft>
              <a:buSzPct val="100000"/>
              <a:buChar char="•"/>
            </a:pPr>
            <a:r>
              <a:rPr lang="en-US" sz="1400" dirty="0">
                <a:solidFill>
                  <a:srgbClr val="1B2A41"/>
                </a:solidFill>
                <a:latin typeface="Calibri" pitchFamily="34" charset="0"/>
                <a:ea typeface="Calibri" pitchFamily="34" charset="-122"/>
                <a:cs typeface="Calibri" pitchFamily="34" charset="-120"/>
              </a:rPr>
              <a:t>sold + reserved &lt;= total, always</a:t>
            </a:r>
            <a:endParaRPr lang="en-US" sz="1400" dirty="0"/>
          </a:p>
          <a:p>
            <a:pPr marL="342900" indent="-342900">
              <a:spcAft>
                <a:spcPts val="400"/>
              </a:spcAft>
              <a:buSzPct val="100000"/>
              <a:buChar char="•"/>
            </a:pPr>
            <a:r>
              <a:rPr lang="en-US" sz="1400" dirty="0">
                <a:solidFill>
                  <a:srgbClr val="1B2A41"/>
                </a:solidFill>
                <a:latin typeface="Calibri" pitchFamily="34" charset="0"/>
                <a:ea typeface="Calibri" pitchFamily="34" charset="-122"/>
                <a:cs typeface="Calibri" pitchFamily="34" charset="-120"/>
              </a:rPr>
              <a:t>One reservation, payment, order per idempotency key</a:t>
            </a:r>
            <a:endParaRPr lang="en-US" sz="1400" dirty="0"/>
          </a:p>
          <a:p>
            <a:pPr marL="342900" indent="-342900">
              <a:spcAft>
                <a:spcPts val="400"/>
              </a:spcAft>
              <a:buSzPct val="100000"/>
              <a:buChar char="•"/>
            </a:pPr>
            <a:r>
              <a:rPr lang="en-US" sz="1400" dirty="0">
                <a:solidFill>
                  <a:srgbClr val="1B2A41"/>
                </a:solidFill>
                <a:latin typeface="Calibri" pitchFamily="34" charset="0"/>
                <a:ea typeface="Calibri" pitchFamily="34" charset="-122"/>
                <a:cs typeface="Calibri" pitchFamily="34" charset="-120"/>
              </a:rPr>
              <a:t>Paid reservation never expires; always ends in order or refund</a:t>
            </a:r>
            <a:endParaRPr lang="en-US" sz="1400" dirty="0"/>
          </a:p>
        </p:txBody>
      </p:sp>
      <p:sp>
        <p:nvSpPr>
          <p:cNvPr id="17" name="Shape 15"/>
          <p:cNvSpPr/>
          <p:nvPr/>
        </p:nvSpPr>
        <p:spPr>
          <a:xfrm>
            <a:off x="4663440" y="2743200"/>
            <a:ext cx="4023360" cy="1920240"/>
          </a:xfrm>
          <a:prstGeom prst="roundRect">
            <a:avLst>
              <a:gd name="adj" fmla="val 3810"/>
            </a:avLst>
          </a:prstGeom>
          <a:solidFill>
            <a:srgbClr val="FFFFFF"/>
          </a:solidFill>
          <a:ln w="9525">
            <a:solidFill>
              <a:srgbClr val="D9E2EC"/>
            </a:solidFill>
            <a:prstDash val="solid"/>
          </a:ln>
        </p:spPr>
      </p:sp>
      <p:sp>
        <p:nvSpPr>
          <p:cNvPr id="18" name="Text 16"/>
          <p:cNvSpPr txBox="1"/>
          <p:nvPr/>
        </p:nvSpPr>
        <p:spPr>
          <a:xfrm>
            <a:off x="4846320" y="2834640"/>
            <a:ext cx="3657600" cy="1737360"/>
          </a:xfrm>
          <a:prstGeom prst="rect">
            <a:avLst/>
          </a:prstGeom>
          <a:noFill/>
          <a:ln/>
        </p:spPr>
        <p:txBody>
          <a:bodyPr wrap="square" lIns="0" tIns="0" rIns="0" bIns="0" rtlCol="0" anchor="t"/>
          <a:lstStyle/>
          <a:p>
            <a:pPr indent="0" marL="0">
              <a:spcAft>
                <a:spcPts val="400"/>
              </a:spcAft>
              <a:buNone/>
            </a:pPr>
            <a:r>
              <a:rPr lang="en-US" sz="1400" b="1" dirty="0">
                <a:solidFill>
                  <a:srgbClr val="0B1F3A"/>
                </a:solidFill>
                <a:latin typeface="Calibri" pitchFamily="34" charset="0"/>
                <a:ea typeface="Calibri" pitchFamily="34" charset="-122"/>
                <a:cs typeface="Calibri" pitchFamily="34" charset="-120"/>
              </a:rPr>
              <a:t>Targets</a:t>
            </a:r>
            <a:endParaRPr lang="en-US" sz="1400" dirty="0"/>
          </a:p>
          <a:p>
            <a:pPr marL="342900" indent="-342900">
              <a:spcAft>
                <a:spcPts val="400"/>
              </a:spcAft>
              <a:buSzPct val="100000"/>
              <a:buChar char="•"/>
            </a:pPr>
            <a:r>
              <a:rPr lang="en-US" sz="1400" dirty="0">
                <a:solidFill>
                  <a:srgbClr val="1B2A41"/>
                </a:solidFill>
                <a:latin typeface="Calibri" pitchFamily="34" charset="0"/>
                <a:ea typeface="Calibri" pitchFamily="34" charset="-122"/>
                <a:cs typeface="Calibri" pitchFamily="34" charset="-120"/>
              </a:rPr>
              <a:t>Reserve p99 &lt; 800 ms; page p95 &lt; 200 ms</a:t>
            </a:r>
            <a:endParaRPr lang="en-US" sz="1400" dirty="0"/>
          </a:p>
          <a:p>
            <a:pPr marL="342900" indent="-342900">
              <a:spcAft>
                <a:spcPts val="400"/>
              </a:spcAft>
              <a:buSzPct val="100000"/>
              <a:buChar char="•"/>
            </a:pPr>
            <a:r>
              <a:rPr lang="en-US" sz="1400" dirty="0">
                <a:solidFill>
                  <a:srgbClr val="1B2A41"/>
                </a:solidFill>
                <a:latin typeface="Calibri" pitchFamily="34" charset="0"/>
                <a:ea typeface="Calibri" pitchFamily="34" charset="-122"/>
                <a:cs typeface="Calibri" pitchFamily="34" charset="-120"/>
              </a:rPr>
              <a:t>Availability 99.95% on buy path</a:t>
            </a:r>
            <a:endParaRPr lang="en-US" sz="1400" dirty="0"/>
          </a:p>
          <a:p>
            <a:pPr marL="342900" indent="-342900">
              <a:spcAft>
                <a:spcPts val="400"/>
              </a:spcAft>
              <a:buSzPct val="100000"/>
              <a:buChar char="•"/>
            </a:pPr>
            <a:r>
              <a:rPr lang="en-US" sz="1400" dirty="0">
                <a:solidFill>
                  <a:srgbClr val="1B2A41"/>
                </a:solidFill>
                <a:latin typeface="Calibri" pitchFamily="34" charset="0"/>
                <a:ea typeface="Calibri" pitchFamily="34" charset="-122"/>
                <a:cs typeface="Calibri" pitchFamily="34" charset="-120"/>
              </a:rPr>
              <a:t>Paid order created within 60 s; RTO &lt; 15 min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HLD: a funnel that protects one hot row</a:t>
            </a:r>
            <a:endParaRPr lang="en-US" sz="3000" dirty="0"/>
          </a:p>
        </p:txBody>
      </p:sp>
      <p:sp>
        <p:nvSpPr>
          <p:cNvPr id="3" name="Shape 1"/>
          <p:cNvSpPr/>
          <p:nvPr/>
        </p:nvSpPr>
        <p:spPr>
          <a:xfrm>
            <a:off x="457200" y="1051560"/>
            <a:ext cx="5486400" cy="640080"/>
          </a:xfrm>
          <a:prstGeom prst="roundRect">
            <a:avLst>
              <a:gd name="adj" fmla="val 11429"/>
            </a:avLst>
          </a:prstGeom>
          <a:solidFill>
            <a:srgbClr val="0B1F3A"/>
          </a:solidFill>
          <a:ln w="12700">
            <a:solidFill>
              <a:srgbClr val="0B1F3A"/>
            </a:solidFill>
            <a:prstDash val="solid"/>
          </a:ln>
        </p:spPr>
      </p:sp>
      <p:sp>
        <p:nvSpPr>
          <p:cNvPr id="4" name="Text 2"/>
          <p:cNvSpPr txBox="1"/>
          <p:nvPr/>
        </p:nvSpPr>
        <p:spPr>
          <a:xfrm>
            <a:off x="457200" y="1051560"/>
            <a:ext cx="5486400" cy="6400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CDN + WAF + bots</a:t>
            </a:r>
            <a:endParaRPr lang="en-US" sz="1400" dirty="0"/>
          </a:p>
        </p:txBody>
      </p:sp>
      <p:sp>
        <p:nvSpPr>
          <p:cNvPr id="5" name="Text 3"/>
          <p:cNvSpPr txBox="1"/>
          <p:nvPr/>
        </p:nvSpPr>
        <p:spPr>
          <a:xfrm>
            <a:off x="6309360" y="1051560"/>
            <a:ext cx="2468880" cy="640080"/>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~500k req/s absorbed; sale page and sold-out banner cached</a:t>
            </a:r>
            <a:endParaRPr lang="en-US" sz="1100" dirty="0"/>
          </a:p>
        </p:txBody>
      </p:sp>
      <p:sp>
        <p:nvSpPr>
          <p:cNvPr id="6" name="Shape 4"/>
          <p:cNvSpPr/>
          <p:nvPr/>
        </p:nvSpPr>
        <p:spPr>
          <a:xfrm>
            <a:off x="708660" y="1764792"/>
            <a:ext cx="4983480" cy="640080"/>
          </a:xfrm>
          <a:prstGeom prst="roundRect">
            <a:avLst>
              <a:gd name="adj" fmla="val 11429"/>
            </a:avLst>
          </a:prstGeom>
          <a:solidFill>
            <a:srgbClr val="17406B"/>
          </a:solidFill>
          <a:ln w="12700">
            <a:solidFill>
              <a:srgbClr val="17406B"/>
            </a:solidFill>
            <a:prstDash val="solid"/>
          </a:ln>
        </p:spPr>
      </p:sp>
      <p:sp>
        <p:nvSpPr>
          <p:cNvPr id="7" name="Text 5"/>
          <p:cNvSpPr txBox="1"/>
          <p:nvPr/>
        </p:nvSpPr>
        <p:spPr>
          <a:xfrm>
            <a:off x="708660" y="1764792"/>
            <a:ext cx="4983480" cy="6400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LB + API Gateway</a:t>
            </a:r>
            <a:endParaRPr lang="en-US" sz="1400" dirty="0"/>
          </a:p>
        </p:txBody>
      </p:sp>
      <p:sp>
        <p:nvSpPr>
          <p:cNvPr id="8" name="Text 6"/>
          <p:cNvSpPr txBox="1"/>
          <p:nvPr/>
        </p:nvSpPr>
        <p:spPr>
          <a:xfrm>
            <a:off x="6309360" y="1764792"/>
            <a:ext cx="2468880" cy="640080"/>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JWT, rate limit, Idempotency-Key required</a:t>
            </a:r>
            <a:endParaRPr lang="en-US" sz="1100" dirty="0"/>
          </a:p>
        </p:txBody>
      </p:sp>
      <p:sp>
        <p:nvSpPr>
          <p:cNvPr id="9" name="Shape 7"/>
          <p:cNvSpPr/>
          <p:nvPr/>
        </p:nvSpPr>
        <p:spPr>
          <a:xfrm>
            <a:off x="960120" y="2478024"/>
            <a:ext cx="4480560" cy="640080"/>
          </a:xfrm>
          <a:prstGeom prst="roundRect">
            <a:avLst>
              <a:gd name="adj" fmla="val 11429"/>
            </a:avLst>
          </a:prstGeom>
          <a:solidFill>
            <a:srgbClr val="0E7490"/>
          </a:solidFill>
          <a:ln w="12700">
            <a:solidFill>
              <a:srgbClr val="0E7490"/>
            </a:solidFill>
            <a:prstDash val="solid"/>
          </a:ln>
        </p:spPr>
      </p:sp>
      <p:sp>
        <p:nvSpPr>
          <p:cNvPr id="10" name="Text 8"/>
          <p:cNvSpPr txBox="1"/>
          <p:nvPr/>
        </p:nvSpPr>
        <p:spPr>
          <a:xfrm>
            <a:off x="960120" y="2478024"/>
            <a:ext cx="4480560" cy="6400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Waiting room (admission)</a:t>
            </a:r>
            <a:endParaRPr lang="en-US" sz="1400" dirty="0"/>
          </a:p>
        </p:txBody>
      </p:sp>
      <p:sp>
        <p:nvSpPr>
          <p:cNvPr id="11" name="Text 9"/>
          <p:cNvSpPr txBox="1"/>
          <p:nvPr/>
        </p:nvSpPr>
        <p:spPr>
          <a:xfrm>
            <a:off x="6309360" y="2478024"/>
            <a:ext cx="2468880" cy="640080"/>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token bucket: bounded flow to inventory</a:t>
            </a:r>
            <a:endParaRPr lang="en-US" sz="1100" dirty="0"/>
          </a:p>
        </p:txBody>
      </p:sp>
      <p:sp>
        <p:nvSpPr>
          <p:cNvPr id="12" name="Shape 10"/>
          <p:cNvSpPr/>
          <p:nvPr/>
        </p:nvSpPr>
        <p:spPr>
          <a:xfrm>
            <a:off x="1211580" y="3191256"/>
            <a:ext cx="3977640" cy="640080"/>
          </a:xfrm>
          <a:prstGeom prst="roundRect">
            <a:avLst>
              <a:gd name="adj" fmla="val 11429"/>
            </a:avLst>
          </a:prstGeom>
          <a:solidFill>
            <a:srgbClr val="00A6A6"/>
          </a:solidFill>
          <a:ln w="12700">
            <a:solidFill>
              <a:srgbClr val="00A6A6"/>
            </a:solidFill>
            <a:prstDash val="solid"/>
          </a:ln>
        </p:spPr>
      </p:sp>
      <p:sp>
        <p:nvSpPr>
          <p:cNvPr id="13" name="Text 11"/>
          <p:cNvSpPr txBox="1"/>
          <p:nvPr/>
        </p:nvSpPr>
        <p:spPr>
          <a:xfrm>
            <a:off x="1211580" y="3191256"/>
            <a:ext cx="3977640" cy="6400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Redis stock gate</a:t>
            </a:r>
            <a:endParaRPr lang="en-US" sz="1400" dirty="0"/>
          </a:p>
        </p:txBody>
      </p:sp>
      <p:sp>
        <p:nvSpPr>
          <p:cNvPr id="14" name="Text 12"/>
          <p:cNvSpPr txBox="1"/>
          <p:nvPr/>
        </p:nvSpPr>
        <p:spPr>
          <a:xfrm>
            <a:off x="6309360" y="3191256"/>
            <a:ext cx="2468880" cy="640080"/>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atomic Lua decrement; ~9,900 losers rejected in microseconds</a:t>
            </a:r>
            <a:endParaRPr lang="en-US" sz="1100" dirty="0"/>
          </a:p>
        </p:txBody>
      </p:sp>
      <p:sp>
        <p:nvSpPr>
          <p:cNvPr id="15" name="Shape 13"/>
          <p:cNvSpPr/>
          <p:nvPr/>
        </p:nvSpPr>
        <p:spPr>
          <a:xfrm>
            <a:off x="1463040" y="3904488"/>
            <a:ext cx="3474720" cy="640080"/>
          </a:xfrm>
          <a:prstGeom prst="roundRect">
            <a:avLst>
              <a:gd name="adj" fmla="val 11429"/>
            </a:avLst>
          </a:prstGeom>
          <a:solidFill>
            <a:srgbClr val="FFB703"/>
          </a:solidFill>
          <a:ln w="12700">
            <a:solidFill>
              <a:srgbClr val="FFB703"/>
            </a:solidFill>
            <a:prstDash val="solid"/>
          </a:ln>
        </p:spPr>
      </p:sp>
      <p:sp>
        <p:nvSpPr>
          <p:cNvPr id="16" name="Text 14"/>
          <p:cNvSpPr txBox="1"/>
          <p:nvPr/>
        </p:nvSpPr>
        <p:spPr>
          <a:xfrm>
            <a:off x="1463040" y="3904488"/>
            <a:ext cx="3474720" cy="640080"/>
          </a:xfrm>
          <a:prstGeom prst="rect">
            <a:avLst/>
          </a:prstGeom>
          <a:noFill/>
          <a:ln/>
        </p:spPr>
        <p:txBody>
          <a:bodyPr wrap="square" lIns="25400" tIns="25400" rIns="25400" bIns="2540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Inventory DB: atomic UPDATE</a:t>
            </a:r>
            <a:endParaRPr lang="en-US" sz="1400" dirty="0"/>
          </a:p>
        </p:txBody>
      </p:sp>
      <p:sp>
        <p:nvSpPr>
          <p:cNvPr id="17" name="Text 15"/>
          <p:cNvSpPr txBox="1"/>
          <p:nvPr/>
        </p:nvSpPr>
        <p:spPr>
          <a:xfrm>
            <a:off x="6309360" y="3904488"/>
            <a:ext cx="2468880" cy="640080"/>
          </a:xfrm>
          <a:prstGeom prst="rect">
            <a:avLst/>
          </a:prstGeom>
          <a:noFill/>
          <a:ln/>
        </p:spPr>
        <p:txBody>
          <a:bodyPr wrap="square" lIns="0" tIns="0" rIns="0" bIns="0" rtlCol="0" anchor="ctr"/>
          <a:lstStyle/>
          <a:p>
            <a:pPr indent="0" marL="0">
              <a:buNone/>
            </a:pPr>
            <a:r>
              <a:rPr lang="en-US" sz="1100" dirty="0">
                <a:solidFill>
                  <a:srgbClr val="5B6B80"/>
                </a:solidFill>
                <a:latin typeface="Calibri" pitchFamily="34" charset="0"/>
                <a:ea typeface="Calibri" pitchFamily="34" charset="-122"/>
                <a:cs typeface="Calibri" pitchFamily="34" charset="-120"/>
              </a:rPr>
              <a:t>WHERE available &gt;= qty; ~100 writes; the single authority</a:t>
            </a:r>
            <a:endParaRPr lang="en-US" sz="1100" dirty="0"/>
          </a:p>
        </p:txBody>
      </p:sp>
      <p:sp>
        <p:nvSpPr>
          <p:cNvPr id="18" name="Text 16"/>
          <p:cNvSpPr txBox="1"/>
          <p:nvPr/>
        </p:nvSpPr>
        <p:spPr>
          <a:xfrm>
            <a:off x="457200" y="4663440"/>
            <a:ext cx="822960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Then async: Kafka + outbox -&gt; Payment -&gt; Order -&gt; Shipment / Notification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10,000 buyers, 100 units: what happens</a:t>
            </a:r>
            <a:endParaRPr lang="en-US" sz="3000" dirty="0"/>
          </a:p>
        </p:txBody>
      </p:sp>
      <p:sp>
        <p:nvSpPr>
          <p:cNvPr id="3" name="Shape 1"/>
          <p:cNvSpPr/>
          <p:nvPr/>
        </p:nvSpPr>
        <p:spPr>
          <a:xfrm>
            <a:off x="457200" y="1097280"/>
            <a:ext cx="4937760" cy="3566160"/>
          </a:xfrm>
          <a:prstGeom prst="roundRect">
            <a:avLst>
              <a:gd name="adj" fmla="val 2051"/>
            </a:avLst>
          </a:prstGeom>
          <a:solidFill>
            <a:srgbClr val="FFFFFF"/>
          </a:solidFill>
          <a:ln w="9525">
            <a:solidFill>
              <a:srgbClr val="D9E2EC"/>
            </a:solidFill>
            <a:prstDash val="solid"/>
          </a:ln>
        </p:spPr>
      </p:sp>
      <p:sp>
        <p:nvSpPr>
          <p:cNvPr id="4" name="Text 2"/>
          <p:cNvSpPr txBox="1"/>
          <p:nvPr/>
        </p:nvSpPr>
        <p:spPr>
          <a:xfrm>
            <a:off x="640080" y="1188720"/>
            <a:ext cx="4572000" cy="3383280"/>
          </a:xfrm>
          <a:prstGeom prst="rect">
            <a:avLst/>
          </a:prstGeom>
          <a:noFill/>
          <a:ln/>
        </p:spPr>
        <p:txBody>
          <a:bodyPr wrap="square" lIns="0" tIns="0" rIns="0" bIns="0" rtlCol="0" anchor="t"/>
          <a:lstStyle/>
          <a:p>
            <a:pPr indent="0" marL="0">
              <a:spcAft>
                <a:spcPts val="600"/>
              </a:spcAft>
              <a:buNone/>
            </a:pPr>
            <a:r>
              <a:rPr lang="en-US" sz="1400" dirty="0">
                <a:solidFill>
                  <a:srgbClr val="1B2A41"/>
                </a:solidFill>
                <a:latin typeface="Calibri" pitchFamily="34" charset="0"/>
                <a:ea typeface="Calibri" pitchFamily="34" charset="-122"/>
                <a:cs typeface="Calibri" pitchFamily="34" charset="-120"/>
              </a:rPr>
              <a:t>1. Click: gateway checks JWT, rate limit, key</a:t>
            </a:r>
            <a:endParaRPr lang="en-US" sz="1400" dirty="0"/>
          </a:p>
          <a:p>
            <a:pPr indent="0" marL="0">
              <a:spcAft>
                <a:spcPts val="600"/>
              </a:spcAft>
              <a:buNone/>
            </a:pPr>
            <a:r>
              <a:rPr lang="en-US" sz="1400" dirty="0">
                <a:solidFill>
                  <a:srgbClr val="1B2A41"/>
                </a:solidFill>
                <a:latin typeface="Calibri" pitchFamily="34" charset="0"/>
                <a:ea typeface="Calibri" pitchFamily="34" charset="-122"/>
                <a:cs typeface="Calibri" pitchFamily="34" charset="-120"/>
              </a:rPr>
              <a:t>2. Waiting room admits a controlled flow</a:t>
            </a:r>
            <a:endParaRPr lang="en-US" sz="1400" dirty="0"/>
          </a:p>
          <a:p>
            <a:pPr indent="0" marL="0">
              <a:spcAft>
                <a:spcPts val="600"/>
              </a:spcAft>
              <a:buNone/>
            </a:pPr>
            <a:r>
              <a:rPr lang="en-US" sz="1400" dirty="0">
                <a:solidFill>
                  <a:srgbClr val="1B2A41"/>
                </a:solidFill>
                <a:latin typeface="Calibri" pitchFamily="34" charset="0"/>
                <a:ea typeface="Calibri" pitchFamily="34" charset="-122"/>
                <a:cs typeface="Calibri" pitchFamily="34" charset="-120"/>
              </a:rPr>
              <a:t>3. Duplicate key? Return stored result</a:t>
            </a:r>
            <a:endParaRPr lang="en-US" sz="1400" dirty="0"/>
          </a:p>
          <a:p>
            <a:pPr indent="0" marL="0">
              <a:spcAft>
                <a:spcPts val="600"/>
              </a:spcAft>
              <a:buNone/>
            </a:pPr>
            <a:r>
              <a:rPr lang="en-US" sz="1400" dirty="0">
                <a:solidFill>
                  <a:srgbClr val="1B2A41"/>
                </a:solidFill>
                <a:latin typeface="Calibri" pitchFamily="34" charset="0"/>
                <a:ea typeface="Calibri" pitchFamily="34" charset="-122"/>
                <a:cs typeface="Calibri" pitchFamily="34" charset="-120"/>
              </a:rPr>
              <a:t>4. Redis Lua: first 100 get a token, rest get OUT_OF_STOCK</a:t>
            </a:r>
            <a:endParaRPr lang="en-US" sz="1400" dirty="0"/>
          </a:p>
          <a:p>
            <a:pPr indent="0" marL="0">
              <a:spcAft>
                <a:spcPts val="600"/>
              </a:spcAft>
              <a:buNone/>
            </a:pPr>
            <a:r>
              <a:rPr lang="en-US" sz="1400" dirty="0">
                <a:solidFill>
                  <a:srgbClr val="1B2A41"/>
                </a:solidFill>
                <a:latin typeface="Calibri" pitchFamily="34" charset="0"/>
                <a:ea typeface="Calibri" pitchFamily="34" charset="-122"/>
                <a:cs typeface="Calibri" pitchFamily="34" charset="-120"/>
              </a:rPr>
              <a:t>5. One DB transaction: UPDATE inventory ... WHERE available &gt;= 1, INSERT reservation, INSERT outbox</a:t>
            </a:r>
            <a:endParaRPr lang="en-US" sz="1400" dirty="0"/>
          </a:p>
          <a:p>
            <a:pPr indent="0" marL="0">
              <a:spcAft>
                <a:spcPts val="600"/>
              </a:spcAft>
              <a:buNone/>
            </a:pPr>
            <a:r>
              <a:rPr lang="en-US" sz="1400" dirty="0">
                <a:solidFill>
                  <a:srgbClr val="1B2A41"/>
                </a:solidFill>
                <a:latin typeface="Calibri" pitchFamily="34" charset="0"/>
                <a:ea typeface="Calibri" pitchFamily="34" charset="-122"/>
                <a:cs typeface="Calibri" pitchFamily="34" charset="-120"/>
              </a:rPr>
              <a:t>6. 0 rows updated? Return token, OUT_OF_STOCK</a:t>
            </a:r>
            <a:endParaRPr lang="en-US" sz="1400" dirty="0"/>
          </a:p>
        </p:txBody>
      </p:sp>
      <p:sp>
        <p:nvSpPr>
          <p:cNvPr id="5" name="Shape 3"/>
          <p:cNvSpPr/>
          <p:nvPr/>
        </p:nvSpPr>
        <p:spPr>
          <a:xfrm>
            <a:off x="5577840" y="1097280"/>
            <a:ext cx="3108960" cy="1645920"/>
          </a:xfrm>
          <a:prstGeom prst="roundRect">
            <a:avLst>
              <a:gd name="adj" fmla="val 4444"/>
            </a:avLst>
          </a:prstGeom>
          <a:solidFill>
            <a:srgbClr val="0B1F3A"/>
          </a:solidFill>
          <a:ln w="9525">
            <a:solidFill>
              <a:srgbClr val="D9E2EC"/>
            </a:solidFill>
            <a:prstDash val="solid"/>
          </a:ln>
        </p:spPr>
      </p:sp>
      <p:sp>
        <p:nvSpPr>
          <p:cNvPr id="6" name="Text 4"/>
          <p:cNvSpPr txBox="1"/>
          <p:nvPr/>
        </p:nvSpPr>
        <p:spPr>
          <a:xfrm>
            <a:off x="5760720" y="1188720"/>
            <a:ext cx="2743200" cy="365760"/>
          </a:xfrm>
          <a:prstGeom prst="rect">
            <a:avLst/>
          </a:prstGeom>
          <a:noFill/>
          <a:ln/>
        </p:spPr>
        <p:txBody>
          <a:bodyPr wrap="square" lIns="0" tIns="0" rIns="0" bIns="0" rtlCol="0" anchor="ctr"/>
          <a:lstStyle/>
          <a:p>
            <a:pPr indent="0" marL="0">
              <a:buNone/>
            </a:pPr>
            <a:r>
              <a:rPr lang="en-US" sz="1600" b="1" dirty="0">
                <a:solidFill>
                  <a:srgbClr val="FFB703"/>
                </a:solidFill>
                <a:latin typeface="Cambria" pitchFamily="34" charset="0"/>
                <a:ea typeface="Cambria" pitchFamily="34" charset="-122"/>
                <a:cs typeface="Cambria" pitchFamily="34" charset="-120"/>
              </a:rPr>
              <a:t>Last unit, two requests</a:t>
            </a:r>
            <a:endParaRPr lang="en-US" sz="1600" dirty="0"/>
          </a:p>
        </p:txBody>
      </p:sp>
      <p:sp>
        <p:nvSpPr>
          <p:cNvPr id="7" name="Text 5"/>
          <p:cNvSpPr txBox="1"/>
          <p:nvPr/>
        </p:nvSpPr>
        <p:spPr>
          <a:xfrm>
            <a:off x="5760720" y="1554480"/>
            <a:ext cx="2743200" cy="10972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Row lock serialises them. Winner takes 1 to 0. Loser re-checks available &gt;= 1, false, 0 rows. CHECK (available &gt;= 0) is the last guard.</a:t>
            </a:r>
            <a:endParaRPr lang="en-US" sz="1200" dirty="0"/>
          </a:p>
        </p:txBody>
      </p:sp>
      <p:sp>
        <p:nvSpPr>
          <p:cNvPr id="8" name="Shape 6"/>
          <p:cNvSpPr/>
          <p:nvPr/>
        </p:nvSpPr>
        <p:spPr>
          <a:xfrm>
            <a:off x="5577840" y="2926080"/>
            <a:ext cx="3108960" cy="1737360"/>
          </a:xfrm>
          <a:prstGeom prst="roundRect">
            <a:avLst>
              <a:gd name="adj" fmla="val 4211"/>
            </a:avLst>
          </a:prstGeom>
          <a:solidFill>
            <a:srgbClr val="FFFFFF"/>
          </a:solidFill>
          <a:ln w="9525">
            <a:solidFill>
              <a:srgbClr val="D9E2EC"/>
            </a:solidFill>
            <a:prstDash val="solid"/>
          </a:ln>
        </p:spPr>
      </p:sp>
      <p:sp>
        <p:nvSpPr>
          <p:cNvPr id="9" name="Text 7"/>
          <p:cNvSpPr txBox="1"/>
          <p:nvPr/>
        </p:nvSpPr>
        <p:spPr>
          <a:xfrm>
            <a:off x="5760720" y="3017520"/>
            <a:ext cx="27432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Why not the alternatives</a:t>
            </a:r>
            <a:endParaRPr lang="en-US" sz="1600" dirty="0"/>
          </a:p>
        </p:txBody>
      </p:sp>
      <p:sp>
        <p:nvSpPr>
          <p:cNvPr id="10" name="Text 8"/>
          <p:cNvSpPr txBox="1"/>
          <p:nvPr/>
        </p:nvSpPr>
        <p:spPr>
          <a:xfrm>
            <a:off x="5760720" y="3383280"/>
            <a:ext cx="2743200" cy="1188720"/>
          </a:xfrm>
          <a:prstGeom prst="rect">
            <a:avLst/>
          </a:prstGeom>
          <a:noFill/>
          <a:ln/>
        </p:spPr>
        <p:txBody>
          <a:bodyPr wrap="square" lIns="0" tIns="0" rIns="0" bIns="0" rtlCol="0" anchor="t"/>
          <a:lstStyle/>
          <a:p>
            <a:pPr indent="0" marL="0">
              <a:buNone/>
            </a:pPr>
            <a:r>
              <a:rPr lang="en-US" sz="1200" dirty="0">
                <a:solidFill>
                  <a:srgbClr val="1B2A41"/>
                </a:solidFill>
                <a:latin typeface="Calibri" pitchFamily="34" charset="0"/>
                <a:ea typeface="Calibri" pitchFamily="34" charset="-122"/>
                <a:cs typeface="Calibri" pitchFamily="34" charset="-120"/>
              </a:rPr>
              <a:t>FOR UPDATE: lock pile-up. Optimistic CAS: retry storm on one row. Chosen: atomic UPDATE behind a gate.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Reservation lifecycle: every path ends clean</a:t>
            </a:r>
            <a:endParaRPr lang="en-US" sz="3000" dirty="0"/>
          </a:p>
        </p:txBody>
      </p:sp>
      <p:sp>
        <p:nvSpPr>
          <p:cNvPr id="3" name="Shape 1"/>
          <p:cNvSpPr/>
          <p:nvPr/>
        </p:nvSpPr>
        <p:spPr>
          <a:xfrm>
            <a:off x="457200" y="1280160"/>
            <a:ext cx="1828800" cy="640080"/>
          </a:xfrm>
          <a:prstGeom prst="roundRect">
            <a:avLst>
              <a:gd name="adj" fmla="val 14286"/>
            </a:avLst>
          </a:prstGeom>
          <a:solidFill>
            <a:srgbClr val="00A6A6"/>
          </a:solidFill>
          <a:ln w="6350">
            <a:solidFill>
              <a:srgbClr val="00A6A6"/>
            </a:solidFill>
            <a:prstDash val="solid"/>
          </a:ln>
        </p:spPr>
      </p:sp>
      <p:sp>
        <p:nvSpPr>
          <p:cNvPr id="4" name="Text 2"/>
          <p:cNvSpPr txBox="1"/>
          <p:nvPr/>
        </p:nvSpPr>
        <p:spPr>
          <a:xfrm>
            <a:off x="457200" y="1280160"/>
            <a:ext cx="182880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RESERVED</a:t>
            </a:r>
            <a:endParaRPr lang="en-US" sz="1300" dirty="0"/>
          </a:p>
        </p:txBody>
      </p:sp>
      <p:sp>
        <p:nvSpPr>
          <p:cNvPr id="5" name="Text 3"/>
          <p:cNvSpPr txBox="1"/>
          <p:nvPr/>
        </p:nvSpPr>
        <p:spPr>
          <a:xfrm>
            <a:off x="2286000" y="1280160"/>
            <a:ext cx="320040" cy="640080"/>
          </a:xfrm>
          <a:prstGeom prst="rect">
            <a:avLst/>
          </a:prstGeom>
          <a:noFill/>
          <a:ln/>
        </p:spPr>
        <p:txBody>
          <a:bodyPr wrap="square" lIns="0" tIns="0" rIns="0" bIns="0" rtlCol="0" anchor="ctr"/>
          <a:lstStyle/>
          <a:p>
            <a:pPr algn="ctr" indent="0" marL="0">
              <a:buNone/>
            </a:pPr>
            <a:r>
              <a:rPr lang="en-US" sz="2200" b="1" dirty="0">
                <a:solidFill>
                  <a:srgbClr val="5B6B80"/>
                </a:solidFill>
                <a:latin typeface="Calibri" pitchFamily="34" charset="0"/>
                <a:ea typeface="Calibri" pitchFamily="34" charset="-122"/>
                <a:cs typeface="Calibri" pitchFamily="34" charset="-120"/>
              </a:rPr>
              <a:t>&gt;</a:t>
            </a:r>
            <a:endParaRPr lang="en-US" sz="2200" dirty="0"/>
          </a:p>
        </p:txBody>
      </p:sp>
      <p:sp>
        <p:nvSpPr>
          <p:cNvPr id="6" name="Shape 4"/>
          <p:cNvSpPr/>
          <p:nvPr/>
        </p:nvSpPr>
        <p:spPr>
          <a:xfrm>
            <a:off x="2606040" y="1280160"/>
            <a:ext cx="1828800" cy="640080"/>
          </a:xfrm>
          <a:prstGeom prst="roundRect">
            <a:avLst>
              <a:gd name="adj" fmla="val 14286"/>
            </a:avLst>
          </a:prstGeom>
          <a:solidFill>
            <a:srgbClr val="0E7490"/>
          </a:solidFill>
          <a:ln w="6350">
            <a:solidFill>
              <a:srgbClr val="0E7490"/>
            </a:solidFill>
            <a:prstDash val="solid"/>
          </a:ln>
        </p:spPr>
      </p:sp>
      <p:sp>
        <p:nvSpPr>
          <p:cNvPr id="7" name="Text 5"/>
          <p:cNvSpPr txBox="1"/>
          <p:nvPr/>
        </p:nvSpPr>
        <p:spPr>
          <a:xfrm>
            <a:off x="2606040" y="1280160"/>
            <a:ext cx="182880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PAYMENT_PENDING</a:t>
            </a:r>
            <a:endParaRPr lang="en-US" sz="1300" dirty="0"/>
          </a:p>
        </p:txBody>
      </p:sp>
      <p:sp>
        <p:nvSpPr>
          <p:cNvPr id="8" name="Text 6"/>
          <p:cNvSpPr txBox="1"/>
          <p:nvPr/>
        </p:nvSpPr>
        <p:spPr>
          <a:xfrm>
            <a:off x="4434840" y="1280160"/>
            <a:ext cx="320040" cy="640080"/>
          </a:xfrm>
          <a:prstGeom prst="rect">
            <a:avLst/>
          </a:prstGeom>
          <a:noFill/>
          <a:ln/>
        </p:spPr>
        <p:txBody>
          <a:bodyPr wrap="square" lIns="0" tIns="0" rIns="0" bIns="0" rtlCol="0" anchor="ctr"/>
          <a:lstStyle/>
          <a:p>
            <a:pPr algn="ctr" indent="0" marL="0">
              <a:buNone/>
            </a:pPr>
            <a:r>
              <a:rPr lang="en-US" sz="2200" b="1" dirty="0">
                <a:solidFill>
                  <a:srgbClr val="5B6B80"/>
                </a:solidFill>
                <a:latin typeface="Calibri" pitchFamily="34" charset="0"/>
                <a:ea typeface="Calibri" pitchFamily="34" charset="-122"/>
                <a:cs typeface="Calibri" pitchFamily="34" charset="-120"/>
              </a:rPr>
              <a:t>&gt;</a:t>
            </a:r>
            <a:endParaRPr lang="en-US" sz="2200" dirty="0"/>
          </a:p>
        </p:txBody>
      </p:sp>
      <p:sp>
        <p:nvSpPr>
          <p:cNvPr id="9" name="Shape 7"/>
          <p:cNvSpPr/>
          <p:nvPr/>
        </p:nvSpPr>
        <p:spPr>
          <a:xfrm>
            <a:off x="4754880" y="1280160"/>
            <a:ext cx="1828800" cy="640080"/>
          </a:xfrm>
          <a:prstGeom prst="roundRect">
            <a:avLst>
              <a:gd name="adj" fmla="val 14286"/>
            </a:avLst>
          </a:prstGeom>
          <a:solidFill>
            <a:srgbClr val="17406B"/>
          </a:solidFill>
          <a:ln w="6350">
            <a:solidFill>
              <a:srgbClr val="17406B"/>
            </a:solidFill>
            <a:prstDash val="solid"/>
          </a:ln>
        </p:spPr>
      </p:sp>
      <p:sp>
        <p:nvSpPr>
          <p:cNvPr id="10" name="Text 8"/>
          <p:cNvSpPr txBox="1"/>
          <p:nvPr/>
        </p:nvSpPr>
        <p:spPr>
          <a:xfrm>
            <a:off x="4754880" y="1280160"/>
            <a:ext cx="182880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CONFIRMED</a:t>
            </a:r>
            <a:endParaRPr lang="en-US" sz="1300" dirty="0"/>
          </a:p>
        </p:txBody>
      </p:sp>
      <p:sp>
        <p:nvSpPr>
          <p:cNvPr id="11" name="Text 9"/>
          <p:cNvSpPr txBox="1"/>
          <p:nvPr/>
        </p:nvSpPr>
        <p:spPr>
          <a:xfrm>
            <a:off x="6583680" y="1280160"/>
            <a:ext cx="320040" cy="640080"/>
          </a:xfrm>
          <a:prstGeom prst="rect">
            <a:avLst/>
          </a:prstGeom>
          <a:noFill/>
          <a:ln/>
        </p:spPr>
        <p:txBody>
          <a:bodyPr wrap="square" lIns="0" tIns="0" rIns="0" bIns="0" rtlCol="0" anchor="ctr"/>
          <a:lstStyle/>
          <a:p>
            <a:pPr algn="ctr" indent="0" marL="0">
              <a:buNone/>
            </a:pPr>
            <a:r>
              <a:rPr lang="en-US" sz="2200" b="1" dirty="0">
                <a:solidFill>
                  <a:srgbClr val="5B6B80"/>
                </a:solidFill>
                <a:latin typeface="Calibri" pitchFamily="34" charset="0"/>
                <a:ea typeface="Calibri" pitchFamily="34" charset="-122"/>
                <a:cs typeface="Calibri" pitchFamily="34" charset="-120"/>
              </a:rPr>
              <a:t>&gt;</a:t>
            </a:r>
            <a:endParaRPr lang="en-US" sz="2200" dirty="0"/>
          </a:p>
        </p:txBody>
      </p:sp>
      <p:sp>
        <p:nvSpPr>
          <p:cNvPr id="12" name="Shape 10"/>
          <p:cNvSpPr/>
          <p:nvPr/>
        </p:nvSpPr>
        <p:spPr>
          <a:xfrm>
            <a:off x="6903720" y="1280160"/>
            <a:ext cx="1828800" cy="640080"/>
          </a:xfrm>
          <a:prstGeom prst="roundRect">
            <a:avLst>
              <a:gd name="adj" fmla="val 14286"/>
            </a:avLst>
          </a:prstGeom>
          <a:solidFill>
            <a:srgbClr val="2E9E6B"/>
          </a:solidFill>
          <a:ln w="6350">
            <a:solidFill>
              <a:srgbClr val="2E9E6B"/>
            </a:solidFill>
            <a:prstDash val="solid"/>
          </a:ln>
        </p:spPr>
      </p:sp>
      <p:sp>
        <p:nvSpPr>
          <p:cNvPr id="13" name="Text 11"/>
          <p:cNvSpPr txBox="1"/>
          <p:nvPr/>
        </p:nvSpPr>
        <p:spPr>
          <a:xfrm>
            <a:off x="6903720" y="1280160"/>
            <a:ext cx="1828800" cy="64008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SOLD</a:t>
            </a:r>
            <a:endParaRPr lang="en-US" sz="1300" dirty="0"/>
          </a:p>
        </p:txBody>
      </p:sp>
      <p:sp>
        <p:nvSpPr>
          <p:cNvPr id="14" name="Shape 12"/>
          <p:cNvSpPr/>
          <p:nvPr/>
        </p:nvSpPr>
        <p:spPr>
          <a:xfrm>
            <a:off x="2743200" y="2926080"/>
            <a:ext cx="2011680" cy="640080"/>
          </a:xfrm>
          <a:prstGeom prst="roundRect">
            <a:avLst>
              <a:gd name="adj" fmla="val 14286"/>
            </a:avLst>
          </a:prstGeom>
          <a:solidFill>
            <a:srgbClr val="D64545"/>
          </a:solidFill>
          <a:ln w="6350">
            <a:solidFill>
              <a:srgbClr val="D64545"/>
            </a:solidFill>
            <a:prstDash val="solid"/>
          </a:ln>
        </p:spPr>
      </p:sp>
      <p:sp>
        <p:nvSpPr>
          <p:cNvPr id="15" name="Text 13"/>
          <p:cNvSpPr txBox="1"/>
          <p:nvPr/>
        </p:nvSpPr>
        <p:spPr>
          <a:xfrm>
            <a:off x="2743200" y="2926080"/>
            <a:ext cx="2011680" cy="6400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RELEASED</a:t>
            </a:r>
            <a:endParaRPr lang="en-US" sz="1400" dirty="0"/>
          </a:p>
        </p:txBody>
      </p:sp>
      <p:sp>
        <p:nvSpPr>
          <p:cNvPr id="16" name="Text 14"/>
          <p:cNvSpPr txBox="1"/>
          <p:nvPr/>
        </p:nvSpPr>
        <p:spPr>
          <a:xfrm>
            <a:off x="457200" y="2331720"/>
            <a:ext cx="2194560" cy="365760"/>
          </a:xfrm>
          <a:prstGeom prst="rect">
            <a:avLst/>
          </a:prstGeom>
          <a:noFill/>
          <a:ln/>
        </p:spPr>
        <p:txBody>
          <a:bodyPr wrap="square" lIns="0" tIns="0" rIns="0" bIns="0" rtlCol="0" anchor="ctr"/>
          <a:lstStyle/>
          <a:p>
            <a:pPr algn="ctr" indent="0" marL="0">
              <a:buNone/>
            </a:pPr>
            <a:r>
              <a:rPr lang="en-US" sz="1200" b="1" dirty="0">
                <a:solidFill>
                  <a:srgbClr val="D64545"/>
                </a:solidFill>
                <a:latin typeface="Calibri" pitchFamily="34" charset="0"/>
                <a:ea typeface="Calibri" pitchFamily="34" charset="-122"/>
                <a:cs typeface="Calibri" pitchFamily="34" charset="-120"/>
              </a:rPr>
              <a:t>PAYMENT_FAILED</a:t>
            </a:r>
            <a:endParaRPr lang="en-US" sz="1200" dirty="0"/>
          </a:p>
        </p:txBody>
      </p:sp>
      <p:sp>
        <p:nvSpPr>
          <p:cNvPr id="17" name="Text 15"/>
          <p:cNvSpPr txBox="1"/>
          <p:nvPr/>
        </p:nvSpPr>
        <p:spPr>
          <a:xfrm>
            <a:off x="2743200" y="2331720"/>
            <a:ext cx="2194560" cy="365760"/>
          </a:xfrm>
          <a:prstGeom prst="rect">
            <a:avLst/>
          </a:prstGeom>
          <a:noFill/>
          <a:ln/>
        </p:spPr>
        <p:txBody>
          <a:bodyPr wrap="square" lIns="0" tIns="0" rIns="0" bIns="0" rtlCol="0" anchor="ctr"/>
          <a:lstStyle/>
          <a:p>
            <a:pPr algn="ctr" indent="0" marL="0">
              <a:buNone/>
            </a:pPr>
            <a:r>
              <a:rPr lang="en-US" sz="1200" b="1" dirty="0">
                <a:solidFill>
                  <a:srgbClr val="D64545"/>
                </a:solidFill>
                <a:latin typeface="Calibri" pitchFamily="34" charset="0"/>
                <a:ea typeface="Calibri" pitchFamily="34" charset="-122"/>
                <a:cs typeface="Calibri" pitchFamily="34" charset="-120"/>
              </a:rPr>
              <a:t>TIMEOUT (TTL)</a:t>
            </a:r>
            <a:endParaRPr lang="en-US" sz="1200" dirty="0"/>
          </a:p>
        </p:txBody>
      </p:sp>
      <p:sp>
        <p:nvSpPr>
          <p:cNvPr id="18" name="Text 16"/>
          <p:cNvSpPr txBox="1"/>
          <p:nvPr/>
        </p:nvSpPr>
        <p:spPr>
          <a:xfrm>
            <a:off x="5120640" y="2331720"/>
            <a:ext cx="2194560" cy="365760"/>
          </a:xfrm>
          <a:prstGeom prst="rect">
            <a:avLst/>
          </a:prstGeom>
          <a:noFill/>
          <a:ln/>
        </p:spPr>
        <p:txBody>
          <a:bodyPr wrap="square" lIns="0" tIns="0" rIns="0" bIns="0" rtlCol="0" anchor="ctr"/>
          <a:lstStyle/>
          <a:p>
            <a:pPr algn="ctr" indent="0" marL="0">
              <a:buNone/>
            </a:pPr>
            <a:r>
              <a:rPr lang="en-US" sz="1200" b="1" dirty="0">
                <a:solidFill>
                  <a:srgbClr val="D64545"/>
                </a:solidFill>
                <a:latin typeface="Calibri" pitchFamily="34" charset="0"/>
                <a:ea typeface="Calibri" pitchFamily="34" charset="-122"/>
                <a:cs typeface="Calibri" pitchFamily="34" charset="-120"/>
              </a:rPr>
              <a:t>ORDER_FAILED + refund</a:t>
            </a:r>
            <a:endParaRPr lang="en-US" sz="1200" dirty="0"/>
          </a:p>
        </p:txBody>
      </p:sp>
      <p:sp>
        <p:nvSpPr>
          <p:cNvPr id="19" name="Text 17"/>
          <p:cNvSpPr txBox="1"/>
          <p:nvPr/>
        </p:nvSpPr>
        <p:spPr>
          <a:xfrm>
            <a:off x="457200" y="3840480"/>
            <a:ext cx="8229600" cy="365760"/>
          </a:xfrm>
          <a:prstGeom prst="rect">
            <a:avLst/>
          </a:prstGeom>
          <a:noFill/>
          <a:ln/>
        </p:spPr>
        <p:txBody>
          <a:bodyPr wrap="square" lIns="0" tIns="0" rIns="0" bIns="0" rtlCol="0" anchor="ctr"/>
          <a:lstStyle/>
          <a:p>
            <a:pPr indent="0" marL="0">
              <a:buNone/>
            </a:pPr>
            <a:r>
              <a:rPr lang="en-US" sz="1400" dirty="0">
                <a:solidFill>
                  <a:srgbClr val="1B2A41"/>
                </a:solidFill>
                <a:latin typeface="Calibri" pitchFamily="34" charset="0"/>
                <a:ea typeface="Calibri" pitchFamily="34" charset="-122"/>
                <a:cs typeface="Calibri" pitchFamily="34" charset="-120"/>
              </a:rPr>
              <a:t>Expiry: sweeper, DB clock, FOR UPDATE SKIP LOCKED, guarded state updates</a:t>
            </a:r>
            <a:endParaRPr lang="en-US" sz="1400" dirty="0"/>
          </a:p>
        </p:txBody>
      </p:sp>
      <p:sp>
        <p:nvSpPr>
          <p:cNvPr id="20" name="Text 18"/>
          <p:cNvSpPr txBox="1"/>
          <p:nvPr/>
        </p:nvSpPr>
        <p:spPr>
          <a:xfrm>
            <a:off x="457200" y="4251960"/>
            <a:ext cx="822960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Invariant: available + reserved + sold = total, enforced by a CHECK constraint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Payment and order: four scenarios</a:t>
            </a:r>
            <a:endParaRPr lang="en-US" sz="3000" dirty="0"/>
          </a:p>
        </p:txBody>
      </p:sp>
      <p:sp>
        <p:nvSpPr>
          <p:cNvPr id="3" name="Shape 1"/>
          <p:cNvSpPr/>
          <p:nvPr/>
        </p:nvSpPr>
        <p:spPr>
          <a:xfrm>
            <a:off x="457200" y="1097280"/>
            <a:ext cx="1920240" cy="2834640"/>
          </a:xfrm>
          <a:prstGeom prst="roundRect">
            <a:avLst>
              <a:gd name="adj" fmla="val 3810"/>
            </a:avLst>
          </a:prstGeom>
          <a:solidFill>
            <a:srgbClr val="FFFFFF"/>
          </a:solidFill>
          <a:ln w="9525">
            <a:solidFill>
              <a:srgbClr val="D9E2EC"/>
            </a:solidFill>
            <a:prstDash val="solid"/>
          </a:ln>
        </p:spPr>
      </p:sp>
      <p:sp>
        <p:nvSpPr>
          <p:cNvPr id="4" name="Shape 2"/>
          <p:cNvSpPr/>
          <p:nvPr/>
        </p:nvSpPr>
        <p:spPr>
          <a:xfrm>
            <a:off x="594360" y="1234440"/>
            <a:ext cx="320040" cy="320040"/>
          </a:xfrm>
          <a:prstGeom prst="ellipse">
            <a:avLst/>
          </a:prstGeom>
          <a:solidFill>
            <a:srgbClr val="2E9E6B"/>
          </a:solidFill>
          <a:ln w="12700">
            <a:solidFill>
              <a:srgbClr val="2E9E6B"/>
            </a:solidFill>
            <a:prstDash val="solid"/>
          </a:ln>
        </p:spPr>
      </p:sp>
      <p:sp>
        <p:nvSpPr>
          <p:cNvPr id="5" name="Text 3"/>
          <p:cNvSpPr txBox="1"/>
          <p:nvPr/>
        </p:nvSpPr>
        <p:spPr>
          <a:xfrm>
            <a:off x="548640" y="1645920"/>
            <a:ext cx="173736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Success (95%)</a:t>
            </a:r>
            <a:endParaRPr lang="en-US" sz="1400" dirty="0"/>
          </a:p>
        </p:txBody>
      </p:sp>
      <p:sp>
        <p:nvSpPr>
          <p:cNvPr id="6" name="Text 4"/>
          <p:cNvSpPr txBox="1"/>
          <p:nvPr/>
        </p:nvSpPr>
        <p:spPr>
          <a:xfrm>
            <a:off x="548640" y="2103120"/>
            <a:ext cx="1737360" cy="178308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Webhook verified, deduped; payment + outbox in one transaction; Inventory confirms; Order created idempotently on reservation_id</a:t>
            </a:r>
            <a:endParaRPr lang="en-US" sz="1100" dirty="0"/>
          </a:p>
        </p:txBody>
      </p:sp>
      <p:sp>
        <p:nvSpPr>
          <p:cNvPr id="7" name="Shape 5"/>
          <p:cNvSpPr/>
          <p:nvPr/>
        </p:nvSpPr>
        <p:spPr>
          <a:xfrm>
            <a:off x="2542032" y="1097280"/>
            <a:ext cx="1920240" cy="2834640"/>
          </a:xfrm>
          <a:prstGeom prst="roundRect">
            <a:avLst>
              <a:gd name="adj" fmla="val 3810"/>
            </a:avLst>
          </a:prstGeom>
          <a:solidFill>
            <a:srgbClr val="FFFFFF"/>
          </a:solidFill>
          <a:ln w="9525">
            <a:solidFill>
              <a:srgbClr val="D9E2EC"/>
            </a:solidFill>
            <a:prstDash val="solid"/>
          </a:ln>
        </p:spPr>
      </p:sp>
      <p:sp>
        <p:nvSpPr>
          <p:cNvPr id="8" name="Shape 6"/>
          <p:cNvSpPr/>
          <p:nvPr/>
        </p:nvSpPr>
        <p:spPr>
          <a:xfrm>
            <a:off x="2679192" y="1234440"/>
            <a:ext cx="320040" cy="320040"/>
          </a:xfrm>
          <a:prstGeom prst="ellipse">
            <a:avLst/>
          </a:prstGeom>
          <a:solidFill>
            <a:srgbClr val="D64545"/>
          </a:solidFill>
          <a:ln w="12700">
            <a:solidFill>
              <a:srgbClr val="D64545"/>
            </a:solidFill>
            <a:prstDash val="solid"/>
          </a:ln>
        </p:spPr>
      </p:sp>
      <p:sp>
        <p:nvSpPr>
          <p:cNvPr id="9" name="Text 7"/>
          <p:cNvSpPr txBox="1"/>
          <p:nvPr/>
        </p:nvSpPr>
        <p:spPr>
          <a:xfrm>
            <a:off x="2633472" y="1645920"/>
            <a:ext cx="173736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Failure (5%)</a:t>
            </a:r>
            <a:endParaRPr lang="en-US" sz="1400" dirty="0"/>
          </a:p>
        </p:txBody>
      </p:sp>
      <p:sp>
        <p:nvSpPr>
          <p:cNvPr id="10" name="Text 8"/>
          <p:cNvSpPr txBox="1"/>
          <p:nvPr/>
        </p:nvSpPr>
        <p:spPr>
          <a:xfrm>
            <a:off x="2633472" y="2103120"/>
            <a:ext cx="1737360" cy="178308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PaymentFailed -&gt; reservation RELEASED, stock +1, Redis token returned; unit re-offered to the waitlist</a:t>
            </a:r>
            <a:endParaRPr lang="en-US" sz="1100" dirty="0"/>
          </a:p>
        </p:txBody>
      </p:sp>
      <p:sp>
        <p:nvSpPr>
          <p:cNvPr id="11" name="Shape 9"/>
          <p:cNvSpPr/>
          <p:nvPr/>
        </p:nvSpPr>
        <p:spPr>
          <a:xfrm>
            <a:off x="4626864" y="1097280"/>
            <a:ext cx="1920240" cy="2834640"/>
          </a:xfrm>
          <a:prstGeom prst="roundRect">
            <a:avLst>
              <a:gd name="adj" fmla="val 3810"/>
            </a:avLst>
          </a:prstGeom>
          <a:solidFill>
            <a:srgbClr val="FFFFFF"/>
          </a:solidFill>
          <a:ln w="9525">
            <a:solidFill>
              <a:srgbClr val="D9E2EC"/>
            </a:solidFill>
            <a:prstDash val="solid"/>
          </a:ln>
        </p:spPr>
      </p:sp>
      <p:sp>
        <p:nvSpPr>
          <p:cNvPr id="12" name="Shape 10"/>
          <p:cNvSpPr/>
          <p:nvPr/>
        </p:nvSpPr>
        <p:spPr>
          <a:xfrm>
            <a:off x="4764024" y="1234440"/>
            <a:ext cx="320040" cy="320040"/>
          </a:xfrm>
          <a:prstGeom prst="ellipse">
            <a:avLst/>
          </a:prstGeom>
          <a:solidFill>
            <a:srgbClr val="FFB703"/>
          </a:solidFill>
          <a:ln w="12700">
            <a:solidFill>
              <a:srgbClr val="FFB703"/>
            </a:solidFill>
            <a:prstDash val="solid"/>
          </a:ln>
        </p:spPr>
      </p:sp>
      <p:sp>
        <p:nvSpPr>
          <p:cNvPr id="13" name="Text 11"/>
          <p:cNvSpPr txBox="1"/>
          <p:nvPr/>
        </p:nvSpPr>
        <p:spPr>
          <a:xfrm>
            <a:off x="4718304" y="1645920"/>
            <a:ext cx="173736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Timeout</a:t>
            </a:r>
            <a:endParaRPr lang="en-US" sz="1400" dirty="0"/>
          </a:p>
        </p:txBody>
      </p:sp>
      <p:sp>
        <p:nvSpPr>
          <p:cNvPr id="14" name="Text 12"/>
          <p:cNvSpPr txBox="1"/>
          <p:nvPr/>
        </p:nvSpPr>
        <p:spPr>
          <a:xfrm>
            <a:off x="4718304" y="2103120"/>
            <a:ext cx="1737360" cy="178308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State unknown, not failed. Reconcile via gateway query on same merchant_ref. Never a blind new charge</a:t>
            </a:r>
            <a:endParaRPr lang="en-US" sz="1100" dirty="0"/>
          </a:p>
        </p:txBody>
      </p:sp>
      <p:sp>
        <p:nvSpPr>
          <p:cNvPr id="15" name="Shape 13"/>
          <p:cNvSpPr/>
          <p:nvPr/>
        </p:nvSpPr>
        <p:spPr>
          <a:xfrm>
            <a:off x="6711696" y="1097280"/>
            <a:ext cx="1920240" cy="2834640"/>
          </a:xfrm>
          <a:prstGeom prst="roundRect">
            <a:avLst>
              <a:gd name="adj" fmla="val 3810"/>
            </a:avLst>
          </a:prstGeom>
          <a:solidFill>
            <a:srgbClr val="FFFFFF"/>
          </a:solidFill>
          <a:ln w="9525">
            <a:solidFill>
              <a:srgbClr val="D9E2EC"/>
            </a:solidFill>
            <a:prstDash val="solid"/>
          </a:ln>
        </p:spPr>
      </p:sp>
      <p:sp>
        <p:nvSpPr>
          <p:cNvPr id="16" name="Shape 14"/>
          <p:cNvSpPr/>
          <p:nvPr/>
        </p:nvSpPr>
        <p:spPr>
          <a:xfrm>
            <a:off x="6848856" y="1234440"/>
            <a:ext cx="320040" cy="320040"/>
          </a:xfrm>
          <a:prstGeom prst="ellipse">
            <a:avLst/>
          </a:prstGeom>
          <a:solidFill>
            <a:srgbClr val="00A6A6"/>
          </a:solidFill>
          <a:ln w="12700">
            <a:solidFill>
              <a:srgbClr val="00A6A6"/>
            </a:solidFill>
            <a:prstDash val="solid"/>
          </a:ln>
        </p:spPr>
      </p:sp>
      <p:sp>
        <p:nvSpPr>
          <p:cNvPr id="17" name="Text 15"/>
          <p:cNvSpPr txBox="1"/>
          <p:nvPr/>
        </p:nvSpPr>
        <p:spPr>
          <a:xfrm>
            <a:off x="6803136" y="1645920"/>
            <a:ext cx="1737360" cy="45720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Order outage (30 s)</a:t>
            </a:r>
            <a:endParaRPr lang="en-US" sz="1400" dirty="0"/>
          </a:p>
        </p:txBody>
      </p:sp>
      <p:sp>
        <p:nvSpPr>
          <p:cNvPr id="18" name="Text 16"/>
          <p:cNvSpPr txBox="1"/>
          <p:nvPr/>
        </p:nvSpPr>
        <p:spPr>
          <a:xfrm>
            <a:off x="6803136" y="2103120"/>
            <a:ext cx="1737360" cy="1783080"/>
          </a:xfrm>
          <a:prstGeom prst="rect">
            <a:avLst/>
          </a:prstGeom>
          <a:noFill/>
          <a:ln/>
        </p:spPr>
        <p:txBody>
          <a:bodyPr wrap="square" lIns="0" tIns="0" rIns="0" bIns="0" rtlCol="0" anchor="t"/>
          <a:lstStyle/>
          <a:p>
            <a:pPr indent="0" marL="0">
              <a:buNone/>
            </a:pPr>
            <a:r>
              <a:rPr lang="en-US" sz="1100" dirty="0">
                <a:solidFill>
                  <a:srgbClr val="1B2A41"/>
                </a:solidFill>
                <a:latin typeface="Calibri" pitchFamily="34" charset="0"/>
                <a:ea typeface="Calibri" pitchFamily="34" charset="-122"/>
                <a:cs typeface="Calibri" pitchFamily="34" charset="-120"/>
              </a:rPr>
              <a:t>PaymentSucceeded retained in Kafka; redelivered on recovery; recovery job and DLQ as safety nets; refund only if impossible</a:t>
            </a:r>
            <a:endParaRPr lang="en-US" sz="1100" dirty="0"/>
          </a:p>
        </p:txBody>
      </p:sp>
      <p:sp>
        <p:nvSpPr>
          <p:cNvPr id="19" name="Text 17"/>
          <p:cNvSpPr txBox="1"/>
          <p:nvPr/>
        </p:nvSpPr>
        <p:spPr>
          <a:xfrm>
            <a:off x="457200" y="4114800"/>
            <a:ext cx="8229600" cy="54864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Duplicate payment: UNIQUE(idempotency_key, reservation_id) + gateway merchant_ref. Breaker: 50% failures over 20 calls opens 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LLD, SOLID and patterns: Payment module</a:t>
            </a:r>
            <a:endParaRPr lang="en-US" sz="3000" dirty="0"/>
          </a:p>
        </p:txBody>
      </p:sp>
      <p:sp>
        <p:nvSpPr>
          <p:cNvPr id="3" name="Shape 1"/>
          <p:cNvSpPr/>
          <p:nvPr/>
        </p:nvSpPr>
        <p:spPr>
          <a:xfrm>
            <a:off x="3291840" y="1097280"/>
            <a:ext cx="2560320" cy="868680"/>
          </a:xfrm>
          <a:prstGeom prst="roundRect">
            <a:avLst>
              <a:gd name="adj" fmla="val 8421"/>
            </a:avLst>
          </a:prstGeom>
          <a:solidFill>
            <a:srgbClr val="0B1F3A"/>
          </a:solidFill>
          <a:ln w="12700">
            <a:solidFill>
              <a:srgbClr val="0B1F3A"/>
            </a:solidFill>
            <a:prstDash val="solid"/>
          </a:ln>
        </p:spPr>
      </p:sp>
      <p:sp>
        <p:nvSpPr>
          <p:cNvPr id="4" name="Text 2"/>
          <p:cNvSpPr txBox="1"/>
          <p:nvPr/>
        </p:nvSpPr>
        <p:spPr>
          <a:xfrm>
            <a:off x="3291840" y="1097280"/>
            <a:ext cx="2560320" cy="8686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PaymentService</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idempotent lifecycle</a:t>
            </a:r>
            <a:endParaRPr lang="en-US" sz="1400" dirty="0"/>
          </a:p>
        </p:txBody>
      </p:sp>
      <p:sp>
        <p:nvSpPr>
          <p:cNvPr id="5" name="Shape 3"/>
          <p:cNvSpPr/>
          <p:nvPr/>
        </p:nvSpPr>
        <p:spPr>
          <a:xfrm>
            <a:off x="365760" y="2286000"/>
            <a:ext cx="2560320" cy="868680"/>
          </a:xfrm>
          <a:prstGeom prst="roundRect">
            <a:avLst>
              <a:gd name="adj" fmla="val 8421"/>
            </a:avLst>
          </a:prstGeom>
          <a:solidFill>
            <a:srgbClr val="00A6A6"/>
          </a:solidFill>
          <a:ln w="12700">
            <a:solidFill>
              <a:srgbClr val="00A6A6"/>
            </a:solidFill>
            <a:prstDash val="solid"/>
          </a:ln>
        </p:spPr>
      </p:sp>
      <p:sp>
        <p:nvSpPr>
          <p:cNvPr id="6" name="Text 4"/>
          <p:cNvSpPr txBox="1"/>
          <p:nvPr/>
        </p:nvSpPr>
        <p:spPr>
          <a:xfrm>
            <a:off x="365760" y="2286000"/>
            <a:ext cx="2560320" cy="8686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PaymentProviderFactory</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Factory</a:t>
            </a:r>
            <a:endParaRPr lang="en-US" sz="1400" dirty="0"/>
          </a:p>
        </p:txBody>
      </p:sp>
      <p:sp>
        <p:nvSpPr>
          <p:cNvPr id="7" name="Shape 5"/>
          <p:cNvSpPr/>
          <p:nvPr/>
        </p:nvSpPr>
        <p:spPr>
          <a:xfrm>
            <a:off x="3291840" y="2286000"/>
            <a:ext cx="2560320" cy="868680"/>
          </a:xfrm>
          <a:prstGeom prst="roundRect">
            <a:avLst>
              <a:gd name="adj" fmla="val 8421"/>
            </a:avLst>
          </a:prstGeom>
          <a:solidFill>
            <a:srgbClr val="FFB703"/>
          </a:solidFill>
          <a:ln w="12700">
            <a:solidFill>
              <a:srgbClr val="FFB703"/>
            </a:solidFill>
            <a:prstDash val="solid"/>
          </a:ln>
        </p:spPr>
      </p:sp>
      <p:sp>
        <p:nvSpPr>
          <p:cNvPr id="8" name="Text 6"/>
          <p:cNvSpPr txBox="1"/>
          <p:nvPr/>
        </p:nvSpPr>
        <p:spPr>
          <a:xfrm>
            <a:off x="3291840" y="2286000"/>
            <a:ext cx="2560320" cy="868680"/>
          </a:xfrm>
          <a:prstGeom prst="rect">
            <a:avLst/>
          </a:prstGeom>
          <a:noFill/>
          <a:ln/>
        </p:spPr>
        <p:txBody>
          <a:bodyPr wrap="square" lIns="25400" tIns="25400" rIns="25400" bIns="2540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&lt;&lt;PaymentProvider&gt;&gt;</a:t>
            </a:r>
            <a:endParaRPr lang="en-US" sz="1400" dirty="0"/>
          </a:p>
          <a:p>
            <a:pPr algn="ctr" indent="0" marL="0">
              <a:buNone/>
            </a:pPr>
            <a:r>
              <a:rPr lang="en-US" sz="1100" dirty="0">
                <a:solidFill>
                  <a:srgbClr val="0B1F3A"/>
                </a:solidFill>
                <a:latin typeface="Calibri" pitchFamily="34" charset="0"/>
                <a:ea typeface="Calibri" pitchFamily="34" charset="-122"/>
                <a:cs typeface="Calibri" pitchFamily="34" charset="-120"/>
              </a:rPr>
              <a:t>interface (DIP, ISP)</a:t>
            </a:r>
            <a:endParaRPr lang="en-US" sz="1400" dirty="0"/>
          </a:p>
        </p:txBody>
      </p:sp>
      <p:sp>
        <p:nvSpPr>
          <p:cNvPr id="9" name="Shape 7"/>
          <p:cNvSpPr/>
          <p:nvPr/>
        </p:nvSpPr>
        <p:spPr>
          <a:xfrm>
            <a:off x="6217920" y="2286000"/>
            <a:ext cx="2560320" cy="868680"/>
          </a:xfrm>
          <a:prstGeom prst="roundRect">
            <a:avLst>
              <a:gd name="adj" fmla="val 8421"/>
            </a:avLst>
          </a:prstGeom>
          <a:solidFill>
            <a:srgbClr val="00A6A6"/>
          </a:solidFill>
          <a:ln w="12700">
            <a:solidFill>
              <a:srgbClr val="00A6A6"/>
            </a:solidFill>
            <a:prstDash val="solid"/>
          </a:ln>
        </p:spPr>
      </p:sp>
      <p:sp>
        <p:nvSpPr>
          <p:cNvPr id="10" name="Text 8"/>
          <p:cNvSpPr txBox="1"/>
          <p:nvPr/>
        </p:nvSpPr>
        <p:spPr>
          <a:xfrm>
            <a:off x="6217920" y="2286000"/>
            <a:ext cx="2560320" cy="8686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ResilientDecorator</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retry + circuit breaker</a:t>
            </a:r>
            <a:endParaRPr lang="en-US" sz="1400" dirty="0"/>
          </a:p>
        </p:txBody>
      </p:sp>
      <p:sp>
        <p:nvSpPr>
          <p:cNvPr id="11" name="Shape 9"/>
          <p:cNvSpPr/>
          <p:nvPr/>
        </p:nvSpPr>
        <p:spPr>
          <a:xfrm>
            <a:off x="1828800" y="3474720"/>
            <a:ext cx="2560320" cy="868680"/>
          </a:xfrm>
          <a:prstGeom prst="roundRect">
            <a:avLst>
              <a:gd name="adj" fmla="val 8421"/>
            </a:avLst>
          </a:prstGeom>
          <a:solidFill>
            <a:srgbClr val="17406B"/>
          </a:solidFill>
          <a:ln w="12700">
            <a:solidFill>
              <a:srgbClr val="17406B"/>
            </a:solidFill>
            <a:prstDash val="solid"/>
          </a:ln>
        </p:spPr>
      </p:sp>
      <p:sp>
        <p:nvSpPr>
          <p:cNvPr id="12" name="Text 10"/>
          <p:cNvSpPr txBox="1"/>
          <p:nvPr/>
        </p:nvSpPr>
        <p:spPr>
          <a:xfrm>
            <a:off x="1828800" y="3474720"/>
            <a:ext cx="2560320" cy="8686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RazorpayAdapter</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Adapter</a:t>
            </a:r>
            <a:endParaRPr lang="en-US" sz="1400" dirty="0"/>
          </a:p>
        </p:txBody>
      </p:sp>
      <p:sp>
        <p:nvSpPr>
          <p:cNvPr id="13" name="Shape 11"/>
          <p:cNvSpPr/>
          <p:nvPr/>
        </p:nvSpPr>
        <p:spPr>
          <a:xfrm>
            <a:off x="4754880" y="3474720"/>
            <a:ext cx="2560320" cy="868680"/>
          </a:xfrm>
          <a:prstGeom prst="roundRect">
            <a:avLst>
              <a:gd name="adj" fmla="val 8421"/>
            </a:avLst>
          </a:prstGeom>
          <a:solidFill>
            <a:srgbClr val="17406B"/>
          </a:solidFill>
          <a:ln w="12700">
            <a:solidFill>
              <a:srgbClr val="17406B"/>
            </a:solidFill>
            <a:prstDash val="solid"/>
          </a:ln>
        </p:spPr>
      </p:sp>
      <p:sp>
        <p:nvSpPr>
          <p:cNvPr id="14" name="Text 12"/>
          <p:cNvSpPr txBox="1"/>
          <p:nvPr/>
        </p:nvSpPr>
        <p:spPr>
          <a:xfrm>
            <a:off x="4754880" y="3474720"/>
            <a:ext cx="2560320" cy="868680"/>
          </a:xfrm>
          <a:prstGeom prst="rect">
            <a:avLst/>
          </a:prstGeom>
          <a:no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StripeAdapter</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Adapter</a:t>
            </a:r>
            <a:endParaRPr lang="en-US" sz="1400" dirty="0"/>
          </a:p>
        </p:txBody>
      </p:sp>
      <p:sp>
        <p:nvSpPr>
          <p:cNvPr id="15" name="Text 13"/>
          <p:cNvSpPr txBox="1"/>
          <p:nvPr/>
        </p:nvSpPr>
        <p:spPr>
          <a:xfrm>
            <a:off x="457200" y="4526280"/>
            <a:ext cx="8229600" cy="457200"/>
          </a:xfrm>
          <a:prstGeom prst="rect">
            <a:avLst/>
          </a:prstGeom>
          <a:noFill/>
          <a:ln/>
        </p:spPr>
        <p:txBody>
          <a:bodyPr wrap="square" lIns="0" tIns="0" rIns="0" bIns="0" rtlCol="0" anchor="ctr"/>
          <a:lstStyle/>
          <a:p>
            <a:pPr indent="0" marL="0">
              <a:buNone/>
            </a:pPr>
            <a:r>
              <a:rPr lang="en-US" sz="1200" dirty="0">
                <a:solidFill>
                  <a:srgbClr val="1B2A41"/>
                </a:solidFill>
                <a:latin typeface="Calibri" pitchFamily="34" charset="0"/>
                <a:ea typeface="Calibri" pitchFamily="34" charset="-122"/>
                <a:cs typeface="Calibri" pitchFamily="34" charset="-120"/>
              </a:rPr>
              <a:t>OCP: new provider = new adapter, zero core change. State: reservation, order, payment. Observer: order events. Repository, Facade, Saga, Outbox.</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Scale, reliability and what changes at 50x</a:t>
            </a:r>
            <a:endParaRPr lang="en-US" sz="3000" dirty="0"/>
          </a:p>
        </p:txBody>
      </p:sp>
      <p:sp>
        <p:nvSpPr>
          <p:cNvPr id="3" name="Shape 1"/>
          <p:cNvSpPr/>
          <p:nvPr/>
        </p:nvSpPr>
        <p:spPr>
          <a:xfrm>
            <a:off x="457200" y="1097280"/>
            <a:ext cx="4023360" cy="3566160"/>
          </a:xfrm>
          <a:prstGeom prst="roundRect">
            <a:avLst>
              <a:gd name="adj" fmla="val 2051"/>
            </a:avLst>
          </a:prstGeom>
          <a:solidFill>
            <a:srgbClr val="FFFFFF"/>
          </a:solidFill>
          <a:ln w="9525">
            <a:solidFill>
              <a:srgbClr val="D9E2EC"/>
            </a:solidFill>
            <a:prstDash val="solid"/>
          </a:ln>
        </p:spPr>
      </p:sp>
      <p:sp>
        <p:nvSpPr>
          <p:cNvPr id="4" name="Text 2"/>
          <p:cNvSpPr txBox="1"/>
          <p:nvPr/>
        </p:nvSpPr>
        <p:spPr>
          <a:xfrm>
            <a:off x="640080" y="1188720"/>
            <a:ext cx="3657600" cy="3383280"/>
          </a:xfrm>
          <a:prstGeom prst="rect">
            <a:avLst/>
          </a:prstGeom>
          <a:noFill/>
          <a:ln/>
        </p:spPr>
        <p:txBody>
          <a:bodyPr wrap="square" lIns="0" tIns="0" rIns="0" bIns="0" rtlCol="0" anchor="t"/>
          <a:lstStyle/>
          <a:p>
            <a:pPr indent="0" marL="0">
              <a:spcAft>
                <a:spcPts val="1000"/>
              </a:spcAft>
              <a:buNone/>
            </a:pPr>
            <a:r>
              <a:rPr lang="en-US" sz="1600" b="1" dirty="0">
                <a:solidFill>
                  <a:srgbClr val="0B1F3A"/>
                </a:solidFill>
                <a:latin typeface="Calibri" pitchFamily="34" charset="0"/>
                <a:ea typeface="Calibri" pitchFamily="34" charset="-122"/>
                <a:cs typeface="Calibri" pitchFamily="34" charset="-120"/>
              </a:rPr>
              <a:t>At 50x traffic</a:t>
            </a:r>
            <a:endParaRPr lang="en-US" sz="1500" dirty="0"/>
          </a:p>
          <a:p>
            <a:pPr marL="342900" indent="-342900">
              <a:spcAft>
                <a:spcPts val="1000"/>
              </a:spcAft>
              <a:buSzPct val="100000"/>
              <a:buChar char="•"/>
            </a:pPr>
            <a:r>
              <a:rPr lang="en-US" sz="1500" dirty="0">
                <a:solidFill>
                  <a:srgbClr val="1B2A41"/>
                </a:solidFill>
                <a:latin typeface="Calibri" pitchFamily="34" charset="0"/>
                <a:ea typeface="Calibri" pitchFamily="34" charset="-122"/>
                <a:cs typeface="Calibri" pitchFamily="34" charset="-120"/>
              </a:rPr>
              <a:t>CDN serves sold-out page; &gt;95% never reaches us</a:t>
            </a:r>
            <a:endParaRPr lang="en-US" sz="1500" dirty="0"/>
          </a:p>
          <a:p>
            <a:pPr marL="342900" indent="-342900">
              <a:spcAft>
                <a:spcPts val="1000"/>
              </a:spcAft>
              <a:buSzPct val="100000"/>
              <a:buChar char="•"/>
            </a:pPr>
            <a:r>
              <a:rPr lang="en-US" sz="1500" dirty="0">
                <a:solidFill>
                  <a:srgbClr val="1B2A41"/>
                </a:solidFill>
                <a:latin typeface="Calibri" pitchFamily="34" charset="0"/>
                <a:ea typeface="Calibri" pitchFamily="34" charset="-122"/>
                <a:cs typeface="Calibri" pitchFamily="34" charset="-120"/>
              </a:rPr>
              <a:t>Pre-scaled gateways; shed non-critical APIs first</a:t>
            </a:r>
            <a:endParaRPr lang="en-US" sz="1500" dirty="0"/>
          </a:p>
          <a:p>
            <a:pPr marL="342900" indent="-342900">
              <a:spcAft>
                <a:spcPts val="1000"/>
              </a:spcAft>
              <a:buSzPct val="100000"/>
              <a:buChar char="•"/>
            </a:pPr>
            <a:r>
              <a:rPr lang="en-US" sz="1500" dirty="0">
                <a:solidFill>
                  <a:srgbClr val="1B2A41"/>
                </a:solidFill>
                <a:latin typeface="Calibri" pitchFamily="34" charset="0"/>
                <a:ea typeface="Calibri" pitchFamily="34" charset="-122"/>
                <a:cs typeface="Calibri" pitchFamily="34" charset="-120"/>
              </a:rPr>
              <a:t>Waiting room caps inventory RPS</a:t>
            </a:r>
            <a:endParaRPr lang="en-US" sz="1500" dirty="0"/>
          </a:p>
          <a:p>
            <a:pPr marL="342900" indent="-342900">
              <a:spcAft>
                <a:spcPts val="1000"/>
              </a:spcAft>
              <a:buSzPct val="100000"/>
              <a:buChar char="•"/>
            </a:pPr>
            <a:r>
              <a:rPr lang="en-US" sz="1500" dirty="0">
                <a:solidFill>
                  <a:srgbClr val="1B2A41"/>
                </a:solidFill>
                <a:latin typeface="Calibri" pitchFamily="34" charset="0"/>
                <a:ea typeface="Calibri" pitchFamily="34" charset="-122"/>
                <a:cs typeface="Calibri" pitchFamily="34" charset="-120"/>
              </a:rPr>
              <a:t>DB load unchanged (~100 writes). Stock bucketing for big SKUs</a:t>
            </a:r>
            <a:endParaRPr lang="en-US" sz="1500" dirty="0"/>
          </a:p>
        </p:txBody>
      </p:sp>
      <p:sp>
        <p:nvSpPr>
          <p:cNvPr id="5" name="Shape 3"/>
          <p:cNvSpPr/>
          <p:nvPr/>
        </p:nvSpPr>
        <p:spPr>
          <a:xfrm>
            <a:off x="4663440" y="1097280"/>
            <a:ext cx="4023360" cy="3566160"/>
          </a:xfrm>
          <a:prstGeom prst="roundRect">
            <a:avLst>
              <a:gd name="adj" fmla="val 2051"/>
            </a:avLst>
          </a:prstGeom>
          <a:solidFill>
            <a:srgbClr val="FFFFFF"/>
          </a:solidFill>
          <a:ln w="9525">
            <a:solidFill>
              <a:srgbClr val="D9E2EC"/>
            </a:solidFill>
            <a:prstDash val="solid"/>
          </a:ln>
        </p:spPr>
      </p:sp>
      <p:sp>
        <p:nvSpPr>
          <p:cNvPr id="6" name="Text 4"/>
          <p:cNvSpPr txBox="1"/>
          <p:nvPr/>
        </p:nvSpPr>
        <p:spPr>
          <a:xfrm>
            <a:off x="4846320" y="1188720"/>
            <a:ext cx="3657600" cy="3383280"/>
          </a:xfrm>
          <a:prstGeom prst="rect">
            <a:avLst/>
          </a:prstGeom>
          <a:noFill/>
          <a:ln/>
        </p:spPr>
        <p:txBody>
          <a:bodyPr wrap="square" lIns="0" tIns="0" rIns="0" bIns="0" rtlCol="0" anchor="t"/>
          <a:lstStyle/>
          <a:p>
            <a:pPr indent="0" marL="0">
              <a:spcAft>
                <a:spcPts val="1000"/>
              </a:spcAft>
              <a:buNone/>
            </a:pPr>
            <a:r>
              <a:rPr lang="en-US" sz="1600" b="1" dirty="0">
                <a:solidFill>
                  <a:srgbClr val="0B1F3A"/>
                </a:solidFill>
                <a:latin typeface="Calibri" pitchFamily="34" charset="0"/>
                <a:ea typeface="Calibri" pitchFamily="34" charset="-122"/>
                <a:cs typeface="Calibri" pitchFamily="34" charset="-120"/>
              </a:rPr>
              <a:t>Failure recovery</a:t>
            </a:r>
            <a:endParaRPr lang="en-US" sz="1500" dirty="0"/>
          </a:p>
          <a:p>
            <a:pPr marL="342900" indent="-342900">
              <a:spcAft>
                <a:spcPts val="1000"/>
              </a:spcAft>
              <a:buSzPct val="100000"/>
              <a:buChar char="•"/>
            </a:pPr>
            <a:r>
              <a:rPr lang="en-US" sz="1500" dirty="0">
                <a:solidFill>
                  <a:srgbClr val="1B2A41"/>
                </a:solidFill>
                <a:latin typeface="Calibri" pitchFamily="34" charset="0"/>
                <a:ea typeface="Calibri" pitchFamily="34" charset="-122"/>
                <a:cs typeface="Calibri" pitchFamily="34" charset="-120"/>
              </a:rPr>
              <a:t>DB primary: sync standby promoted, RPO 0; PENDING items reconciled</a:t>
            </a:r>
            <a:endParaRPr lang="en-US" sz="1500" dirty="0"/>
          </a:p>
          <a:p>
            <a:pPr marL="342900" indent="-342900">
              <a:spcAft>
                <a:spcPts val="1000"/>
              </a:spcAft>
              <a:buSzPct val="100000"/>
              <a:buChar char="•"/>
            </a:pPr>
            <a:r>
              <a:rPr lang="en-US" sz="1500" dirty="0">
                <a:solidFill>
                  <a:srgbClr val="1B2A41"/>
                </a:solidFill>
                <a:latin typeface="Calibri" pitchFamily="34" charset="0"/>
                <a:ea typeface="Calibri" pitchFamily="34" charset="-122"/>
                <a:cs typeface="Calibri" pitchFamily="34" charset="-120"/>
              </a:rPr>
              <a:t>Gateway down: breaker opens, queue payments, TTL grace, second provider</a:t>
            </a:r>
            <a:endParaRPr lang="en-US" sz="1500" dirty="0"/>
          </a:p>
          <a:p>
            <a:pPr marL="342900" indent="-342900">
              <a:spcAft>
                <a:spcPts val="1000"/>
              </a:spcAft>
              <a:buSzPct val="100000"/>
              <a:buChar char="•"/>
            </a:pPr>
            <a:r>
              <a:rPr lang="en-US" sz="1500" dirty="0">
                <a:solidFill>
                  <a:srgbClr val="1B2A41"/>
                </a:solidFill>
                <a:latin typeface="Calibri" pitchFamily="34" charset="0"/>
                <a:ea typeface="Calibri" pitchFamily="34" charset="-122"/>
                <a:cs typeface="Calibri" pitchFamily="34" charset="-120"/>
              </a:rPr>
              <a:t>Redis down: bypass gate, DB stays correct, rebuild from DB</a:t>
            </a:r>
            <a:endParaRPr lang="en-US" sz="1500" dirty="0"/>
          </a:p>
          <a:p>
            <a:pPr marL="342900" indent="-342900">
              <a:spcAft>
                <a:spcPts val="1000"/>
              </a:spcAft>
              <a:buSzPct val="100000"/>
              <a:buChar char="•"/>
            </a:pPr>
            <a:r>
              <a:rPr lang="en-US" sz="1500" dirty="0">
                <a:solidFill>
                  <a:srgbClr val="1B2A41"/>
                </a:solidFill>
                <a:latin typeface="Calibri" pitchFamily="34" charset="0"/>
                <a:ea typeface="Calibri" pitchFamily="34" charset="-122"/>
                <a:cs typeface="Calibri" pitchFamily="34" charset="-120"/>
              </a:rPr>
              <a:t>Observability: invariant violation pages immediately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Trade-offs we chose and accept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743200"/>
                <a:gridCol w="2926080"/>
                <a:gridCol w="256032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Gain</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0B1F3A"/>
                    </a:solidFill>
                  </a:tcPr>
                </a:tc>
              </a:tr>
              <a:tr h="475488">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SQL for inventory</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Atomic, constrained, auditable</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Hot-row write limit</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Atomic UPDATE + Redis gate</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No retry storm, DB protected</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Redis drift reconciliation</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Waiting room</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Bounded load</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Users wait; approx. FIFO</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TTL reservation</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No oversell</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Stock briefly held</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Async after payment</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Survives Order outage</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Eventual consistency</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Saga + outbox</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No 2PC</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300" dirty="0">
                          <a:solidFill>
                            <a:srgbClr val="1B2A41"/>
                          </a:solidFill>
                          <a:latin typeface="Calibri" pitchFamily="34" charset="0"/>
                          <a:ea typeface="Calibri" pitchFamily="34" charset="-122"/>
                          <a:cs typeface="Calibri" pitchFamily="34" charset="-120"/>
                        </a:rPr>
                        <a:t>Compensation logic</a:t>
                      </a:r>
                      <a:endParaRPr lang="en-US" sz="1300" dirty="0">
                        <a:latin typeface="Calibri" charset="0"/>
                        <a:ea typeface="Calibri" charset="0"/>
                        <a:cs typeface="Calibri" charset="0"/>
                      </a:endParaRPr>
                    </a:p>
                  </a:txBody>
                  <a:tcPr marL="91440" marR="91440" marT="45720" marB="4572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Final answer: request to valid orders</a:t>
            </a:r>
            <a:endParaRPr lang="en-US" sz="3000" dirty="0"/>
          </a:p>
        </p:txBody>
      </p:sp>
      <p:sp>
        <p:nvSpPr>
          <p:cNvPr id="3" name="Shape 1"/>
          <p:cNvSpPr/>
          <p:nvPr/>
        </p:nvSpPr>
        <p:spPr>
          <a:xfrm>
            <a:off x="411480" y="1463040"/>
            <a:ext cx="1097280" cy="822960"/>
          </a:xfrm>
          <a:prstGeom prst="roundRect">
            <a:avLst>
              <a:gd name="adj" fmla="val 11111"/>
            </a:avLst>
          </a:prstGeom>
          <a:solidFill>
            <a:srgbClr val="00A6A6"/>
          </a:solidFill>
          <a:ln w="6350">
            <a:solidFill>
              <a:srgbClr val="00A6A6"/>
            </a:solidFill>
            <a:prstDash val="solid"/>
          </a:ln>
        </p:spPr>
      </p:sp>
      <p:sp>
        <p:nvSpPr>
          <p:cNvPr id="4" name="Text 2"/>
          <p:cNvSpPr txBox="1"/>
          <p:nvPr/>
        </p:nvSpPr>
        <p:spPr>
          <a:xfrm>
            <a:off x="411480" y="1463040"/>
            <a:ext cx="109728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Edge absorbs</a:t>
            </a:r>
            <a:endParaRPr lang="en-US" sz="1200" dirty="0"/>
          </a:p>
        </p:txBody>
      </p:sp>
      <p:sp>
        <p:nvSpPr>
          <p:cNvPr id="5" name="Shape 3"/>
          <p:cNvSpPr/>
          <p:nvPr/>
        </p:nvSpPr>
        <p:spPr>
          <a:xfrm>
            <a:off x="1618488" y="1463040"/>
            <a:ext cx="1097280" cy="822960"/>
          </a:xfrm>
          <a:prstGeom prst="roundRect">
            <a:avLst>
              <a:gd name="adj" fmla="val 11111"/>
            </a:avLst>
          </a:prstGeom>
          <a:solidFill>
            <a:srgbClr val="00A6A6"/>
          </a:solidFill>
          <a:ln w="6350">
            <a:solidFill>
              <a:srgbClr val="00A6A6"/>
            </a:solidFill>
            <a:prstDash val="solid"/>
          </a:ln>
        </p:spPr>
      </p:sp>
      <p:sp>
        <p:nvSpPr>
          <p:cNvPr id="6" name="Text 4"/>
          <p:cNvSpPr txBox="1"/>
          <p:nvPr/>
        </p:nvSpPr>
        <p:spPr>
          <a:xfrm>
            <a:off x="1618488" y="1463040"/>
            <a:ext cx="109728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Admit</a:t>
            </a:r>
            <a:endParaRPr lang="en-US" sz="1200" dirty="0"/>
          </a:p>
        </p:txBody>
      </p:sp>
      <p:sp>
        <p:nvSpPr>
          <p:cNvPr id="7" name="Shape 5"/>
          <p:cNvSpPr/>
          <p:nvPr/>
        </p:nvSpPr>
        <p:spPr>
          <a:xfrm>
            <a:off x="2825496" y="1463040"/>
            <a:ext cx="1097280" cy="822960"/>
          </a:xfrm>
          <a:prstGeom prst="roundRect">
            <a:avLst>
              <a:gd name="adj" fmla="val 11111"/>
            </a:avLst>
          </a:prstGeom>
          <a:solidFill>
            <a:srgbClr val="00A6A6"/>
          </a:solidFill>
          <a:ln w="6350">
            <a:solidFill>
              <a:srgbClr val="00A6A6"/>
            </a:solidFill>
            <a:prstDash val="solid"/>
          </a:ln>
        </p:spPr>
      </p:sp>
      <p:sp>
        <p:nvSpPr>
          <p:cNvPr id="8" name="Text 6"/>
          <p:cNvSpPr txBox="1"/>
          <p:nvPr/>
        </p:nvSpPr>
        <p:spPr>
          <a:xfrm>
            <a:off x="2825496" y="1463040"/>
            <a:ext cx="109728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Gate: 100 win</a:t>
            </a:r>
            <a:endParaRPr lang="en-US" sz="1200" dirty="0"/>
          </a:p>
        </p:txBody>
      </p:sp>
      <p:sp>
        <p:nvSpPr>
          <p:cNvPr id="9" name="Shape 7"/>
          <p:cNvSpPr/>
          <p:nvPr/>
        </p:nvSpPr>
        <p:spPr>
          <a:xfrm>
            <a:off x="4032504" y="1463040"/>
            <a:ext cx="1097280" cy="822960"/>
          </a:xfrm>
          <a:prstGeom prst="roundRect">
            <a:avLst>
              <a:gd name="adj" fmla="val 11111"/>
            </a:avLst>
          </a:prstGeom>
          <a:solidFill>
            <a:srgbClr val="FFB703"/>
          </a:solidFill>
          <a:ln w="6350">
            <a:solidFill>
              <a:srgbClr val="FFB703"/>
            </a:solidFill>
            <a:prstDash val="solid"/>
          </a:ln>
        </p:spPr>
      </p:sp>
      <p:sp>
        <p:nvSpPr>
          <p:cNvPr id="10" name="Text 8"/>
          <p:cNvSpPr txBox="1"/>
          <p:nvPr/>
        </p:nvSpPr>
        <p:spPr>
          <a:xfrm>
            <a:off x="4032504" y="1463040"/>
            <a:ext cx="1097280" cy="822960"/>
          </a:xfrm>
          <a:prstGeom prst="rect">
            <a:avLst/>
          </a:prstGeom>
          <a:noFill/>
          <a:ln/>
        </p:spPr>
        <p:txBody>
          <a:bodyPr wrap="square" lIns="25400" tIns="25400" rIns="25400" bIns="2540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Atomic reserve</a:t>
            </a:r>
            <a:endParaRPr lang="en-US" sz="1200" dirty="0"/>
          </a:p>
        </p:txBody>
      </p:sp>
      <p:sp>
        <p:nvSpPr>
          <p:cNvPr id="11" name="Shape 9"/>
          <p:cNvSpPr/>
          <p:nvPr/>
        </p:nvSpPr>
        <p:spPr>
          <a:xfrm>
            <a:off x="5239512" y="1463040"/>
            <a:ext cx="1097280" cy="822960"/>
          </a:xfrm>
          <a:prstGeom prst="roundRect">
            <a:avLst>
              <a:gd name="adj" fmla="val 11111"/>
            </a:avLst>
          </a:prstGeom>
          <a:solidFill>
            <a:srgbClr val="00A6A6"/>
          </a:solidFill>
          <a:ln w="6350">
            <a:solidFill>
              <a:srgbClr val="00A6A6"/>
            </a:solidFill>
            <a:prstDash val="solid"/>
          </a:ln>
        </p:spPr>
      </p:sp>
      <p:sp>
        <p:nvSpPr>
          <p:cNvPr id="12" name="Text 10"/>
          <p:cNvSpPr txBox="1"/>
          <p:nvPr/>
        </p:nvSpPr>
        <p:spPr>
          <a:xfrm>
            <a:off x="5239512" y="1463040"/>
            <a:ext cx="109728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Pay</a:t>
            </a:r>
            <a:endParaRPr lang="en-US" sz="1200" dirty="0"/>
          </a:p>
        </p:txBody>
      </p:sp>
      <p:sp>
        <p:nvSpPr>
          <p:cNvPr id="13" name="Shape 11"/>
          <p:cNvSpPr/>
          <p:nvPr/>
        </p:nvSpPr>
        <p:spPr>
          <a:xfrm>
            <a:off x="6446520" y="1463040"/>
            <a:ext cx="1097280" cy="822960"/>
          </a:xfrm>
          <a:prstGeom prst="roundRect">
            <a:avLst>
              <a:gd name="adj" fmla="val 11111"/>
            </a:avLst>
          </a:prstGeom>
          <a:solidFill>
            <a:srgbClr val="00A6A6"/>
          </a:solidFill>
          <a:ln w="6350">
            <a:solidFill>
              <a:srgbClr val="00A6A6"/>
            </a:solidFill>
            <a:prstDash val="solid"/>
          </a:ln>
        </p:spPr>
      </p:sp>
      <p:sp>
        <p:nvSpPr>
          <p:cNvPr id="14" name="Text 12"/>
          <p:cNvSpPr txBox="1"/>
          <p:nvPr/>
        </p:nvSpPr>
        <p:spPr>
          <a:xfrm>
            <a:off x="6446520" y="1463040"/>
            <a:ext cx="109728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Confirm + order</a:t>
            </a:r>
            <a:endParaRPr lang="en-US" sz="1200" dirty="0"/>
          </a:p>
        </p:txBody>
      </p:sp>
      <p:sp>
        <p:nvSpPr>
          <p:cNvPr id="15" name="Shape 13"/>
          <p:cNvSpPr/>
          <p:nvPr/>
        </p:nvSpPr>
        <p:spPr>
          <a:xfrm>
            <a:off x="7653528" y="1463040"/>
            <a:ext cx="1097280" cy="822960"/>
          </a:xfrm>
          <a:prstGeom prst="roundRect">
            <a:avLst>
              <a:gd name="adj" fmla="val 11111"/>
            </a:avLst>
          </a:prstGeom>
          <a:solidFill>
            <a:srgbClr val="00A6A6"/>
          </a:solidFill>
          <a:ln w="6350">
            <a:solidFill>
              <a:srgbClr val="00A6A6"/>
            </a:solidFill>
            <a:prstDash val="solid"/>
          </a:ln>
        </p:spPr>
      </p:sp>
      <p:sp>
        <p:nvSpPr>
          <p:cNvPr id="16" name="Text 14"/>
          <p:cNvSpPr txBox="1"/>
          <p:nvPr/>
        </p:nvSpPr>
        <p:spPr>
          <a:xfrm>
            <a:off x="7653528" y="1463040"/>
            <a:ext cx="1097280" cy="82296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Ship</a:t>
            </a:r>
            <a:endParaRPr lang="en-US" sz="1200" dirty="0"/>
          </a:p>
        </p:txBody>
      </p:sp>
      <p:sp>
        <p:nvSpPr>
          <p:cNvPr id="17" name="Text 15"/>
          <p:cNvSpPr txBox="1"/>
          <p:nvPr/>
        </p:nvSpPr>
        <p:spPr>
          <a:xfrm>
            <a:off x="548640" y="2651760"/>
            <a:ext cx="8046720" cy="21031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~9,900 get OUT_OF_STOCK without touching the DB; ~200 duplicates replay the original result</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~95 pay and become orders; ~5 fail, stock releases, waitlist refills toward 100</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Order outage: events wait in Kafka, orders appear on recovery</a:t>
            </a:r>
            <a:endParaRPr lang="en-US" sz="1600" dirty="0"/>
          </a:p>
          <a:p>
            <a:pPr marL="342900" indent="-342900">
              <a:spcAft>
                <a:spcPts val="800"/>
              </a:spcAft>
              <a:buSzPct val="100000"/>
              <a:buChar char="•"/>
            </a:pPr>
            <a:r>
              <a:rPr lang="en-US" sz="1600" b="1" dirty="0">
                <a:solidFill>
                  <a:srgbClr val="FFFFFF"/>
                </a:solidFill>
                <a:latin typeface="Calibri" pitchFamily="34" charset="0"/>
                <a:ea typeface="Calibri" pitchFamily="34" charset="-122"/>
                <a:cs typeface="Calibri" pitchFamily="34" charset="-120"/>
              </a:rPr>
              <a:t>Final SOLD never exceeds 100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SALESTORM - Flash Sale System Design</dc:title>
  <dc:subject>PptxGenJS Presentation</dc:subject>
  <dc:creator>SALESTORM Team</dc:creator>
  <cp:lastModifiedBy>SALESTORM Team</cp:lastModifiedBy>
  <cp:revision>1</cp:revision>
  <dcterms:created xsi:type="dcterms:W3CDTF">2026-10-05T05:38:50Z</dcterms:created>
  <dcterms:modified xsi:type="dcterms:W3CDTF">2026-10-05T05:38:50Z</dcterms:modified>
</cp:coreProperties>
</file>